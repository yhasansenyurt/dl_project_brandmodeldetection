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40" r:id="rId1"/>
  </p:sldMasterIdLst>
  <p:notesMasterIdLst>
    <p:notesMasterId r:id="rId10"/>
  </p:notesMasterIdLst>
  <p:handoutMasterIdLst>
    <p:handoutMasterId r:id="rId11"/>
  </p:handoutMasterIdLst>
  <p:sldIdLst>
    <p:sldId id="298" r:id="rId2"/>
    <p:sldId id="303" r:id="rId3"/>
    <p:sldId id="304" r:id="rId4"/>
    <p:sldId id="305" r:id="rId5"/>
    <p:sldId id="306" r:id="rId6"/>
    <p:sldId id="319" r:id="rId7"/>
    <p:sldId id="308" r:id="rId8"/>
    <p:sldId id="31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7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1" autoAdjust="0"/>
    <p:restoredTop sz="94694"/>
  </p:normalViewPr>
  <p:slideViewPr>
    <p:cSldViewPr snapToGrid="0" snapToObjects="1">
      <p:cViewPr varScale="1">
        <p:scale>
          <a:sx n="81" d="100"/>
          <a:sy n="81" d="100"/>
        </p:scale>
        <p:origin x="456"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960"/>
    </p:cViewPr>
  </p:sorterViewPr>
  <p:notesViewPr>
    <p:cSldViewPr snapToGrid="0" snapToObject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1E5FF1B3-8F25-8E58-4BFA-0EB8A6E5E8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70A23DBB-8436-AA6A-5BB3-596A54770AD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0C8B23-8598-8048-98D2-77B1E720DCD8}" type="datetimeFigureOut">
              <a:rPr lang="tr-TR" smtClean="0"/>
              <a:t>30.12.2025</a:t>
            </a:fld>
            <a:endParaRPr lang="tr-TR"/>
          </a:p>
        </p:txBody>
      </p:sp>
      <p:sp>
        <p:nvSpPr>
          <p:cNvPr id="4" name="Alt Bilgi Yer Tutucusu 3">
            <a:extLst>
              <a:ext uri="{FF2B5EF4-FFF2-40B4-BE49-F238E27FC236}">
                <a16:creationId xmlns:a16="http://schemas.microsoft.com/office/drawing/2014/main" id="{25049CFA-2B2C-3239-B265-3C8BFD1E24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08243CB8-F62E-1476-EB99-46B88B7CE1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F8DEA-B0DB-2F48-BAFC-F02721F1706D}" type="slidenum">
              <a:rPr lang="tr-TR" smtClean="0"/>
              <a:t>‹#›</a:t>
            </a:fld>
            <a:endParaRPr lang="tr-TR"/>
          </a:p>
        </p:txBody>
      </p:sp>
    </p:spTree>
    <p:extLst>
      <p:ext uri="{BB962C8B-B14F-4D97-AF65-F5344CB8AC3E}">
        <p14:creationId xmlns:p14="http://schemas.microsoft.com/office/powerpoint/2010/main" val="2099314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8C551-22FF-4CB8-B8F2-5188D8B377D2}" type="datetimeFigureOut">
              <a:rPr lang="tr-TR" smtClean="0"/>
              <a:t>30.12.2025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A691B-61CC-4BE4-AE7E-A966C5B1D842}" type="slidenum">
              <a:rPr lang="tr-TR" smtClean="0"/>
              <a:t>‹#›</a:t>
            </a:fld>
            <a:endParaRPr lang="tr-TR"/>
          </a:p>
        </p:txBody>
      </p:sp>
    </p:spTree>
    <p:extLst>
      <p:ext uri="{BB962C8B-B14F-4D97-AF65-F5344CB8AC3E}">
        <p14:creationId xmlns:p14="http://schemas.microsoft.com/office/powerpoint/2010/main" val="3759912546"/>
      </p:ext>
    </p:extLst>
  </p:cSld>
  <p:clrMap bg1="lt1" tx1="dk1" bg2="lt2" tx2="dk2" accent1="accent1" accent2="accent2" accent3="accent3" accent4="accent4" accent5="accent5" accent6="accent6" hlink="hlink" folHlink="folHlink"/>
  <p:notesStyle>
    <a:lvl1pPr marL="0" algn="l" defTabSz="610088" rtl="0" eaLnBrk="1" latinLnBrk="0" hangingPunct="1">
      <a:defRPr sz="801" kern="1200">
        <a:solidFill>
          <a:schemeClr val="tx1"/>
        </a:solidFill>
        <a:latin typeface="+mn-lt"/>
        <a:ea typeface="+mn-ea"/>
        <a:cs typeface="+mn-cs"/>
      </a:defRPr>
    </a:lvl1pPr>
    <a:lvl2pPr marL="305044" algn="l" defTabSz="610088" rtl="0" eaLnBrk="1" latinLnBrk="0" hangingPunct="1">
      <a:defRPr sz="801" kern="1200">
        <a:solidFill>
          <a:schemeClr val="tx1"/>
        </a:solidFill>
        <a:latin typeface="+mn-lt"/>
        <a:ea typeface="+mn-ea"/>
        <a:cs typeface="+mn-cs"/>
      </a:defRPr>
    </a:lvl2pPr>
    <a:lvl3pPr marL="610088" algn="l" defTabSz="610088" rtl="0" eaLnBrk="1" latinLnBrk="0" hangingPunct="1">
      <a:defRPr sz="801" kern="1200">
        <a:solidFill>
          <a:schemeClr val="tx1"/>
        </a:solidFill>
        <a:latin typeface="+mn-lt"/>
        <a:ea typeface="+mn-ea"/>
        <a:cs typeface="+mn-cs"/>
      </a:defRPr>
    </a:lvl3pPr>
    <a:lvl4pPr marL="915132" algn="l" defTabSz="610088" rtl="0" eaLnBrk="1" latinLnBrk="0" hangingPunct="1">
      <a:defRPr sz="801" kern="1200">
        <a:solidFill>
          <a:schemeClr val="tx1"/>
        </a:solidFill>
        <a:latin typeface="+mn-lt"/>
        <a:ea typeface="+mn-ea"/>
        <a:cs typeface="+mn-cs"/>
      </a:defRPr>
    </a:lvl4pPr>
    <a:lvl5pPr marL="1220175" algn="l" defTabSz="610088" rtl="0" eaLnBrk="1" latinLnBrk="0" hangingPunct="1">
      <a:defRPr sz="801" kern="1200">
        <a:solidFill>
          <a:schemeClr val="tx1"/>
        </a:solidFill>
        <a:latin typeface="+mn-lt"/>
        <a:ea typeface="+mn-ea"/>
        <a:cs typeface="+mn-cs"/>
      </a:defRPr>
    </a:lvl5pPr>
    <a:lvl6pPr marL="1525219" algn="l" defTabSz="610088" rtl="0" eaLnBrk="1" latinLnBrk="0" hangingPunct="1">
      <a:defRPr sz="801" kern="1200">
        <a:solidFill>
          <a:schemeClr val="tx1"/>
        </a:solidFill>
        <a:latin typeface="+mn-lt"/>
        <a:ea typeface="+mn-ea"/>
        <a:cs typeface="+mn-cs"/>
      </a:defRPr>
    </a:lvl6pPr>
    <a:lvl7pPr marL="1830263" algn="l" defTabSz="610088" rtl="0" eaLnBrk="1" latinLnBrk="0" hangingPunct="1">
      <a:defRPr sz="801" kern="1200">
        <a:solidFill>
          <a:schemeClr val="tx1"/>
        </a:solidFill>
        <a:latin typeface="+mn-lt"/>
        <a:ea typeface="+mn-ea"/>
        <a:cs typeface="+mn-cs"/>
      </a:defRPr>
    </a:lvl7pPr>
    <a:lvl8pPr marL="2135307" algn="l" defTabSz="610088" rtl="0" eaLnBrk="1" latinLnBrk="0" hangingPunct="1">
      <a:defRPr sz="801" kern="1200">
        <a:solidFill>
          <a:schemeClr val="tx1"/>
        </a:solidFill>
        <a:latin typeface="+mn-lt"/>
        <a:ea typeface="+mn-ea"/>
        <a:cs typeface="+mn-cs"/>
      </a:defRPr>
    </a:lvl8pPr>
    <a:lvl9pPr marL="2440351" algn="l" defTabSz="610088" rtl="0" eaLnBrk="1" latinLnBrk="0" hangingPunct="1">
      <a:defRPr sz="8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 Firstly, we can define the problem. The main idea is detecting car brand and model from each angle of the car.</a:t>
            </a:r>
          </a:p>
          <a:p>
            <a:r>
              <a:rPr lang="en-US" dirty="0"/>
              <a:t>- Sometimes logo can be missing in the image, or image can be rear, side or front of the car. So, there is no single image type to detect brand and model.</a:t>
            </a:r>
          </a:p>
          <a:p>
            <a:endParaRPr lang="en-US" dirty="0"/>
          </a:p>
          <a:p>
            <a:r>
              <a:rPr lang="en-US" dirty="0"/>
              <a:t>- So, what is our approach to solve these problems?</a:t>
            </a:r>
          </a:p>
          <a:p>
            <a:r>
              <a:rPr lang="en-US" dirty="0"/>
              <a:t>- We build our own custom </a:t>
            </a:r>
            <a:r>
              <a:rPr lang="en-US" dirty="0" err="1"/>
              <a:t>resnet</a:t>
            </a:r>
            <a:r>
              <a:rPr lang="en-US" dirty="0"/>
              <a:t> model. We did not use pre-trained model, we designed its layers, activations etc.</a:t>
            </a:r>
          </a:p>
          <a:p>
            <a:r>
              <a:rPr lang="en-US" dirty="0"/>
              <a:t>- And this is our pipeline. Firstly, image goes to the brand detection model. 4 class are our concerns. Renault, ford, </a:t>
            </a:r>
            <a:r>
              <a:rPr lang="en-US" dirty="0" err="1"/>
              <a:t>volkswagen</a:t>
            </a:r>
            <a:r>
              <a:rPr lang="en-US" dirty="0"/>
              <a:t> and </a:t>
            </a:r>
            <a:r>
              <a:rPr lang="en-US" dirty="0" err="1"/>
              <a:t>toyota</a:t>
            </a:r>
            <a:r>
              <a:rPr lang="en-US" dirty="0"/>
              <a:t>.</a:t>
            </a:r>
          </a:p>
          <a:p>
            <a:r>
              <a:rPr lang="en-US" dirty="0"/>
              <a:t>- After brand prediction, program chooses one of the car model detection models. Lastly, we can see which brand and model detected. For example brand detection decide this image is </a:t>
            </a:r>
            <a:r>
              <a:rPr lang="en-US" dirty="0" err="1"/>
              <a:t>toyota</a:t>
            </a:r>
            <a:r>
              <a:rPr lang="en-US" dirty="0"/>
              <a:t>. So </a:t>
            </a:r>
            <a:r>
              <a:rPr lang="en-US" dirty="0" err="1"/>
              <a:t>toyota</a:t>
            </a:r>
            <a:r>
              <a:rPr lang="en-US" dirty="0"/>
              <a:t> model detection model decide this is a supra.</a:t>
            </a:r>
          </a:p>
          <a:p>
            <a:r>
              <a:rPr lang="en-US" dirty="0"/>
              <a:t>- Why do we choose this approach because we have small dataset.</a:t>
            </a:r>
            <a:endParaRPr lang="tr-TR" dirty="0"/>
          </a:p>
        </p:txBody>
      </p:sp>
      <p:sp>
        <p:nvSpPr>
          <p:cNvPr id="4" name="Slayt Numarası Yer Tutucusu 3"/>
          <p:cNvSpPr>
            <a:spLocks noGrp="1"/>
          </p:cNvSpPr>
          <p:nvPr>
            <p:ph type="sldNum" sz="quarter" idx="5"/>
          </p:nvPr>
        </p:nvSpPr>
        <p:spPr/>
        <p:txBody>
          <a:bodyPr/>
          <a:lstStyle/>
          <a:p>
            <a:fld id="{749A691B-61CC-4BE4-AE7E-A966C5B1D842}" type="slidenum">
              <a:rPr lang="tr-TR" smtClean="0"/>
              <a:t>2</a:t>
            </a:fld>
            <a:endParaRPr lang="tr-TR"/>
          </a:p>
        </p:txBody>
      </p:sp>
    </p:spTree>
    <p:extLst>
      <p:ext uri="{BB962C8B-B14F-4D97-AF65-F5344CB8AC3E}">
        <p14:creationId xmlns:p14="http://schemas.microsoft.com/office/powerpoint/2010/main" val="1027960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 We use web scraping techniques to collect dataset. Also we added 10 photos manually.</a:t>
            </a:r>
          </a:p>
          <a:p>
            <a:r>
              <a:rPr lang="en-US" dirty="0"/>
              <a:t>- We struggled when we try to fetch images by web scraping because most of the web-sites </a:t>
            </a:r>
            <a:r>
              <a:rPr lang="en-US" dirty="0" err="1"/>
              <a:t>dont</a:t>
            </a:r>
            <a:r>
              <a:rPr lang="en-US" dirty="0"/>
              <a:t> allow scripts and bots.</a:t>
            </a:r>
          </a:p>
          <a:p>
            <a:r>
              <a:rPr lang="en-US" dirty="0"/>
              <a:t>- This is why our image size of classes differ.</a:t>
            </a:r>
          </a:p>
          <a:p>
            <a:r>
              <a:rPr lang="en-US" dirty="0"/>
              <a:t>- These are the brands and models that our project can detect.</a:t>
            </a:r>
            <a:endParaRPr lang="tr-TR" dirty="0"/>
          </a:p>
        </p:txBody>
      </p:sp>
      <p:sp>
        <p:nvSpPr>
          <p:cNvPr id="4" name="Slayt Numarası Yer Tutucusu 3"/>
          <p:cNvSpPr>
            <a:spLocks noGrp="1"/>
          </p:cNvSpPr>
          <p:nvPr>
            <p:ph type="sldNum" sz="quarter" idx="5"/>
          </p:nvPr>
        </p:nvSpPr>
        <p:spPr/>
        <p:txBody>
          <a:bodyPr/>
          <a:lstStyle/>
          <a:p>
            <a:fld id="{749A691B-61CC-4BE4-AE7E-A966C5B1D842}" type="slidenum">
              <a:rPr lang="tr-TR" smtClean="0"/>
              <a:t>3</a:t>
            </a:fld>
            <a:endParaRPr lang="tr-TR"/>
          </a:p>
        </p:txBody>
      </p:sp>
    </p:spTree>
    <p:extLst>
      <p:ext uri="{BB962C8B-B14F-4D97-AF65-F5344CB8AC3E}">
        <p14:creationId xmlns:p14="http://schemas.microsoft.com/office/powerpoint/2010/main" val="3270967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 These are our custom </a:t>
            </a:r>
            <a:r>
              <a:rPr lang="en-US" dirty="0" err="1"/>
              <a:t>resnet</a:t>
            </a:r>
            <a:r>
              <a:rPr lang="en-US" dirty="0"/>
              <a:t> models. You can see the architectures. Left one is our main custom model and right one is alternate custom model to make experiments and see the difference when you change layer number, neuron number, learning rate etc.</a:t>
            </a:r>
          </a:p>
          <a:p>
            <a:r>
              <a:rPr lang="en-US" dirty="0"/>
              <a:t>- main custom </a:t>
            </a:r>
            <a:r>
              <a:rPr lang="en-US" dirty="0" err="1"/>
              <a:t>resnet</a:t>
            </a:r>
            <a:r>
              <a:rPr lang="en-US" dirty="0"/>
              <a:t> model has 4 layers, output dimension is 512. Our alternate </a:t>
            </a:r>
            <a:r>
              <a:rPr lang="en-US" dirty="0" err="1"/>
              <a:t>resnet</a:t>
            </a:r>
            <a:r>
              <a:rPr lang="en-US" dirty="0"/>
              <a:t> model has 3 layers, less neurons than main model. Both of them have normalization, regularizations and </a:t>
            </a:r>
            <a:r>
              <a:rPr lang="en-US" dirty="0" err="1"/>
              <a:t>poolings</a:t>
            </a:r>
            <a:r>
              <a:rPr lang="en-US" dirty="0"/>
              <a:t>.</a:t>
            </a:r>
          </a:p>
          <a:p>
            <a:r>
              <a:rPr lang="en-US" dirty="0"/>
              <a:t>- Now, my friend </a:t>
            </a:r>
            <a:r>
              <a:rPr lang="en-US" dirty="0" err="1"/>
              <a:t>Barış</a:t>
            </a:r>
            <a:r>
              <a:rPr lang="en-US" dirty="0"/>
              <a:t> will talk about results, experiments and conclusion.</a:t>
            </a:r>
            <a:endParaRPr lang="tr-TR" dirty="0"/>
          </a:p>
        </p:txBody>
      </p:sp>
      <p:sp>
        <p:nvSpPr>
          <p:cNvPr id="4" name="Slayt Numarası Yer Tutucusu 3"/>
          <p:cNvSpPr>
            <a:spLocks noGrp="1"/>
          </p:cNvSpPr>
          <p:nvPr>
            <p:ph type="sldNum" sz="quarter" idx="5"/>
          </p:nvPr>
        </p:nvSpPr>
        <p:spPr/>
        <p:txBody>
          <a:bodyPr/>
          <a:lstStyle/>
          <a:p>
            <a:fld id="{749A691B-61CC-4BE4-AE7E-A966C5B1D842}" type="slidenum">
              <a:rPr lang="tr-TR" smtClean="0"/>
              <a:t>4</a:t>
            </a:fld>
            <a:endParaRPr lang="tr-TR"/>
          </a:p>
        </p:txBody>
      </p:sp>
    </p:spTree>
    <p:extLst>
      <p:ext uri="{BB962C8B-B14F-4D97-AF65-F5344CB8AC3E}">
        <p14:creationId xmlns:p14="http://schemas.microsoft.com/office/powerpoint/2010/main" val="3703724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74A47F-A299-DF43-A839-C104F09B14F8}"/>
              </a:ext>
            </a:extLst>
          </p:cNvPr>
          <p:cNvPicPr>
            <a:picLocks noChangeAspect="1"/>
          </p:cNvPicPr>
          <p:nvPr userDrawn="1"/>
        </p:nvPicPr>
        <p:blipFill>
          <a:blip r:embed="rId2"/>
          <a:stretch>
            <a:fillRect/>
          </a:stretch>
        </p:blipFill>
        <p:spPr>
          <a:xfrm>
            <a:off x="5077238" y="781312"/>
            <a:ext cx="2037523" cy="1145473"/>
          </a:xfrm>
          <a:prstGeom prst="rect">
            <a:avLst/>
          </a:prstGeom>
        </p:spPr>
      </p:pic>
    </p:spTree>
    <p:extLst>
      <p:ext uri="{BB962C8B-B14F-4D97-AF65-F5344CB8AC3E}">
        <p14:creationId xmlns:p14="http://schemas.microsoft.com/office/powerpoint/2010/main" val="3573629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ki İçerik">
    <p:spTree>
      <p:nvGrpSpPr>
        <p:cNvPr id="1" name=""/>
        <p:cNvGrpSpPr/>
        <p:nvPr/>
      </p:nvGrpSpPr>
      <p:grpSpPr>
        <a:xfrm>
          <a:off x="0" y="0"/>
          <a:ext cx="0" cy="0"/>
          <a:chOff x="0" y="0"/>
          <a:chExt cx="0" cy="0"/>
        </a:xfrm>
      </p:grpSpPr>
      <p:sp>
        <p:nvSpPr>
          <p:cNvPr id="9" name="Serbest Form: Şekil 12">
            <a:extLst>
              <a:ext uri="{FF2B5EF4-FFF2-40B4-BE49-F238E27FC236}">
                <a16:creationId xmlns:a16="http://schemas.microsoft.com/office/drawing/2014/main" id="{248D3615-3F51-DDA0-300A-8B54E9526CEC}"/>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A5E1486-EEE5-8693-C1E0-ACEC5AFA306D}"/>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58123513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key Başlık ve Metin">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DBF10744-F389-0340-3BC7-35F3D211563F}"/>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26B8AE1-698D-7C6C-031B-6C777DA6ABA2}"/>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45328566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alnızca Başlık">
    <p:spTree>
      <p:nvGrpSpPr>
        <p:cNvPr id="1" name=""/>
        <p:cNvGrpSpPr/>
        <p:nvPr/>
      </p:nvGrpSpPr>
      <p:grpSpPr>
        <a:xfrm>
          <a:off x="0" y="0"/>
          <a:ext cx="0" cy="0"/>
          <a:chOff x="0" y="0"/>
          <a:chExt cx="0" cy="0"/>
        </a:xfrm>
      </p:grpSpPr>
      <p:sp>
        <p:nvSpPr>
          <p:cNvPr id="7" name="Serbest Form: Şekil 12">
            <a:extLst>
              <a:ext uri="{FF2B5EF4-FFF2-40B4-BE49-F238E27FC236}">
                <a16:creationId xmlns:a16="http://schemas.microsoft.com/office/drawing/2014/main" id="{A430380A-12CA-A86A-A583-C2449C2B4493}"/>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C5022C0E-BE2C-B3FC-347F-19994F0A4C2B}"/>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212060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6" name="Serbest Form: Şekil 12">
            <a:extLst>
              <a:ext uri="{FF2B5EF4-FFF2-40B4-BE49-F238E27FC236}">
                <a16:creationId xmlns:a16="http://schemas.microsoft.com/office/drawing/2014/main" id="{57AE21E1-8BBC-B9D8-9C55-81A29697894B}"/>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9000E3A3-59A2-9E31-012C-BE3BC5BE01FC}"/>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52530703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şlıklı İçerik">
    <p:spTree>
      <p:nvGrpSpPr>
        <p:cNvPr id="1" name=""/>
        <p:cNvGrpSpPr/>
        <p:nvPr/>
      </p:nvGrpSpPr>
      <p:grpSpPr>
        <a:xfrm>
          <a:off x="0" y="0"/>
          <a:ext cx="0" cy="0"/>
          <a:chOff x="0" y="0"/>
          <a:chExt cx="0" cy="0"/>
        </a:xfrm>
      </p:grpSpPr>
      <p:sp>
        <p:nvSpPr>
          <p:cNvPr id="9" name="Serbest Form: Şekil 12">
            <a:extLst>
              <a:ext uri="{FF2B5EF4-FFF2-40B4-BE49-F238E27FC236}">
                <a16:creationId xmlns:a16="http://schemas.microsoft.com/office/drawing/2014/main" id="{6B48B561-3DCA-064F-76D5-189BBDB9E0AD}"/>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2890A2D-C58B-F9FA-DB75-7B853F29061E}"/>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838152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şlıklı Resim">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629AEA6-C2F2-0760-B9C4-CFE242806B35}"/>
              </a:ext>
            </a:extLst>
          </p:cNvPr>
          <p:cNvSpPr txBox="1"/>
          <p:nvPr userDrawn="1"/>
        </p:nvSpPr>
        <p:spPr>
          <a:xfrm>
            <a:off x="4806439" y="6313223"/>
            <a:ext cx="2579123" cy="276999"/>
          </a:xfrm>
          <a:prstGeom prst="rect">
            <a:avLst/>
          </a:prstGeom>
          <a:noFill/>
        </p:spPr>
        <p:txBody>
          <a:bodyPr wrap="square">
            <a:spAutoFit/>
          </a:bodyPr>
          <a:lstStyle/>
          <a:p>
            <a:pPr algn="ctr"/>
            <a:r>
              <a:rPr lang="tr-TR" sz="1200" b="1" i="0" dirty="0">
                <a:solidFill>
                  <a:srgbClr val="002755"/>
                </a:solidFill>
                <a:latin typeface="Helvetica" pitchFamily="2" charset="0"/>
              </a:rPr>
              <a:t>Sunumu Hazırlayan</a:t>
            </a:r>
            <a:endParaRPr lang="tr-TR" sz="1200" b="0" i="0" dirty="0">
              <a:solidFill>
                <a:srgbClr val="002755"/>
              </a:solidFill>
              <a:latin typeface="Helvetica Light" panose="020B0403020202020204" pitchFamily="34" charset="0"/>
            </a:endParaRPr>
          </a:p>
        </p:txBody>
      </p:sp>
      <p:sp>
        <p:nvSpPr>
          <p:cNvPr id="7" name="Metin kutusu 6">
            <a:extLst>
              <a:ext uri="{FF2B5EF4-FFF2-40B4-BE49-F238E27FC236}">
                <a16:creationId xmlns:a16="http://schemas.microsoft.com/office/drawing/2014/main" id="{0FDDA638-4233-C2CB-ED58-408C37035315}"/>
              </a:ext>
            </a:extLst>
          </p:cNvPr>
          <p:cNvSpPr txBox="1"/>
          <p:nvPr userDrawn="1"/>
        </p:nvSpPr>
        <p:spPr>
          <a:xfrm>
            <a:off x="5150472" y="4700383"/>
            <a:ext cx="1891057" cy="461665"/>
          </a:xfrm>
          <a:prstGeom prst="rect">
            <a:avLst/>
          </a:prstGeom>
          <a:noFill/>
        </p:spPr>
        <p:txBody>
          <a:bodyPr wrap="square" rtlCol="0" anchor="ctr">
            <a:spAutoFit/>
          </a:bodyPr>
          <a:lstStyle/>
          <a:p>
            <a:pPr algn="ctr"/>
            <a:r>
              <a:rPr lang="tr-TR" sz="2400" b="1" dirty="0">
                <a:solidFill>
                  <a:srgbClr val="012855"/>
                </a:solidFill>
                <a:latin typeface="Helvetica" pitchFamily="2" charset="0"/>
              </a:rPr>
              <a:t>Teşekkürler</a:t>
            </a:r>
          </a:p>
        </p:txBody>
      </p:sp>
      <p:pic>
        <p:nvPicPr>
          <p:cNvPr id="6" name="Picture 5">
            <a:extLst>
              <a:ext uri="{FF2B5EF4-FFF2-40B4-BE49-F238E27FC236}">
                <a16:creationId xmlns:a16="http://schemas.microsoft.com/office/drawing/2014/main" id="{D9AB56F4-AD76-6F23-90D0-2E430401ABD0}"/>
              </a:ext>
            </a:extLst>
          </p:cNvPr>
          <p:cNvPicPr>
            <a:picLocks noChangeAspect="1"/>
          </p:cNvPicPr>
          <p:nvPr userDrawn="1"/>
        </p:nvPicPr>
        <p:blipFill>
          <a:blip r:embed="rId2"/>
          <a:stretch>
            <a:fillRect/>
          </a:stretch>
        </p:blipFill>
        <p:spPr>
          <a:xfrm>
            <a:off x="5077238" y="781312"/>
            <a:ext cx="2037523" cy="1145473"/>
          </a:xfrm>
          <a:prstGeom prst="rect">
            <a:avLst/>
          </a:prstGeom>
        </p:spPr>
      </p:pic>
    </p:spTree>
    <p:extLst>
      <p:ext uri="{BB962C8B-B14F-4D97-AF65-F5344CB8AC3E}">
        <p14:creationId xmlns:p14="http://schemas.microsoft.com/office/powerpoint/2010/main" val="422213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3335444E-53CF-0493-F065-253DE939741F}"/>
              </a:ext>
            </a:extLst>
          </p:cNvPr>
          <p:cNvPicPr>
            <a:picLocks noChangeAspect="1"/>
          </p:cNvPicPr>
          <p:nvPr userDrawn="1"/>
        </p:nvPicPr>
        <p:blipFill>
          <a:blip r:embed="rId9"/>
          <a:stretch>
            <a:fillRect/>
          </a:stretch>
        </p:blipFill>
        <p:spPr>
          <a:xfrm>
            <a:off x="794" y="1"/>
            <a:ext cx="12191206" cy="6858447"/>
          </a:xfrm>
          <a:prstGeom prst="rect">
            <a:avLst/>
          </a:prstGeom>
        </p:spPr>
      </p:pic>
    </p:spTree>
    <p:extLst>
      <p:ext uri="{BB962C8B-B14F-4D97-AF65-F5344CB8AC3E}">
        <p14:creationId xmlns:p14="http://schemas.microsoft.com/office/powerpoint/2010/main" val="3995178303"/>
      </p:ext>
    </p:extLst>
  </p:cSld>
  <p:clrMap bg1="lt1" tx1="dk1" bg2="lt2" tx2="dk2" accent1="accent1" accent2="accent2" accent3="accent3" accent4="accent4" accent5="accent5" accent6="accent6" hlink="hlink" folHlink="folHlink"/>
  <p:sldLayoutIdLst>
    <p:sldLayoutId id="2147484141" r:id="rId1"/>
    <p:sldLayoutId id="2147484144" r:id="rId2"/>
    <p:sldLayoutId id="2147484151" r:id="rId3"/>
    <p:sldLayoutId id="2147484146" r:id="rId4"/>
    <p:sldLayoutId id="2147484147" r:id="rId5"/>
    <p:sldLayoutId id="2147484148" r:id="rId6"/>
    <p:sldLayoutId id="21474841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ommons.wikimedia.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3EF0E96-9262-B578-FD5E-849D180DD9E7}"/>
              </a:ext>
            </a:extLst>
          </p:cNvPr>
          <p:cNvSpPr txBox="1"/>
          <p:nvPr/>
        </p:nvSpPr>
        <p:spPr>
          <a:xfrm>
            <a:off x="1202574" y="2214407"/>
            <a:ext cx="9786847" cy="2800767"/>
          </a:xfrm>
          <a:prstGeom prst="rect">
            <a:avLst/>
          </a:prstGeom>
          <a:noFill/>
        </p:spPr>
        <p:txBody>
          <a:bodyPr wrap="square" rtlCol="0" anchor="ctr">
            <a:spAutoFit/>
          </a:bodyPr>
          <a:lstStyle/>
          <a:p>
            <a:pPr algn="ctr"/>
            <a:r>
              <a:rPr lang="en-US" sz="4400" b="1" dirty="0">
                <a:solidFill>
                  <a:srgbClr val="012855"/>
                </a:solidFill>
                <a:latin typeface="Helvetica" pitchFamily="2" charset="0"/>
              </a:rPr>
              <a:t>BLG561 Deep Learning</a:t>
            </a:r>
            <a:r>
              <a:rPr lang="tr-TR" sz="4400" b="1" dirty="0">
                <a:solidFill>
                  <a:srgbClr val="012855"/>
                </a:solidFill>
                <a:latin typeface="Helvetica" pitchFamily="2" charset="0"/>
              </a:rPr>
              <a:t> </a:t>
            </a:r>
            <a:r>
              <a:rPr lang="tr-TR" sz="4400" b="1" dirty="0" err="1">
                <a:solidFill>
                  <a:srgbClr val="012855"/>
                </a:solidFill>
                <a:latin typeface="Helvetica" pitchFamily="2" charset="0"/>
              </a:rPr>
              <a:t>Term</a:t>
            </a:r>
            <a:r>
              <a:rPr lang="tr-TR" sz="4400" b="1" dirty="0">
                <a:solidFill>
                  <a:srgbClr val="012855"/>
                </a:solidFill>
                <a:latin typeface="Helvetica" pitchFamily="2" charset="0"/>
              </a:rPr>
              <a:t> Project - </a:t>
            </a:r>
            <a:r>
              <a:rPr lang="en-US" sz="4400" b="1" dirty="0">
                <a:solidFill>
                  <a:srgbClr val="012855"/>
                </a:solidFill>
                <a:latin typeface="Helvetica" pitchFamily="2" charset="0"/>
              </a:rPr>
              <a:t>Car Brand and Model Detection Using Deep</a:t>
            </a:r>
          </a:p>
          <a:p>
            <a:pPr algn="ctr"/>
            <a:r>
              <a:rPr lang="en-US" sz="4400" b="1" dirty="0">
                <a:solidFill>
                  <a:srgbClr val="012855"/>
                </a:solidFill>
                <a:latin typeface="Helvetica" pitchFamily="2" charset="0"/>
              </a:rPr>
              <a:t>Learning</a:t>
            </a:r>
          </a:p>
        </p:txBody>
      </p:sp>
      <p:sp>
        <p:nvSpPr>
          <p:cNvPr id="3" name="Metin kutusu 2">
            <a:extLst>
              <a:ext uri="{FF2B5EF4-FFF2-40B4-BE49-F238E27FC236}">
                <a16:creationId xmlns:a16="http://schemas.microsoft.com/office/drawing/2014/main" id="{7E6A8A9F-8EE3-0A8E-A6D4-55A941C78445}"/>
              </a:ext>
            </a:extLst>
          </p:cNvPr>
          <p:cNvSpPr txBox="1"/>
          <p:nvPr/>
        </p:nvSpPr>
        <p:spPr>
          <a:xfrm>
            <a:off x="4017016" y="5524746"/>
            <a:ext cx="4157965" cy="400110"/>
          </a:xfrm>
          <a:prstGeom prst="rect">
            <a:avLst/>
          </a:prstGeom>
          <a:noFill/>
        </p:spPr>
        <p:txBody>
          <a:bodyPr wrap="square" rtlCol="0" anchor="ctr">
            <a:spAutoFit/>
          </a:bodyPr>
          <a:lstStyle/>
          <a:p>
            <a:pPr algn="ctr"/>
            <a:r>
              <a:rPr lang="tr-TR" sz="2000" dirty="0">
                <a:solidFill>
                  <a:srgbClr val="012855"/>
                </a:solidFill>
                <a:latin typeface="Helvetica Light" panose="020B0403020202020204" pitchFamily="34" charset="0"/>
              </a:rPr>
              <a:t>30.12.2025</a:t>
            </a:r>
          </a:p>
        </p:txBody>
      </p:sp>
      <p:sp>
        <p:nvSpPr>
          <p:cNvPr id="4" name="Metin kutusu 3">
            <a:extLst>
              <a:ext uri="{FF2B5EF4-FFF2-40B4-BE49-F238E27FC236}">
                <a16:creationId xmlns:a16="http://schemas.microsoft.com/office/drawing/2014/main" id="{76CC2FF8-8855-09C8-DA57-95A1C90806F5}"/>
              </a:ext>
            </a:extLst>
          </p:cNvPr>
          <p:cNvSpPr txBox="1"/>
          <p:nvPr/>
        </p:nvSpPr>
        <p:spPr>
          <a:xfrm>
            <a:off x="4229633" y="5889669"/>
            <a:ext cx="3732733" cy="707886"/>
          </a:xfrm>
          <a:prstGeom prst="rect">
            <a:avLst/>
          </a:prstGeom>
          <a:noFill/>
        </p:spPr>
        <p:txBody>
          <a:bodyPr wrap="square" rtlCol="0" anchor="ctr">
            <a:spAutoFit/>
          </a:bodyPr>
          <a:lstStyle/>
          <a:p>
            <a:pPr algn="ctr"/>
            <a:r>
              <a:rPr lang="tr-TR" sz="2000" b="1" dirty="0">
                <a:solidFill>
                  <a:srgbClr val="012855"/>
                </a:solidFill>
                <a:latin typeface="Helvetica" pitchFamily="2" charset="0"/>
              </a:rPr>
              <a:t>Hasan Şenyurt – 504241580</a:t>
            </a:r>
          </a:p>
          <a:p>
            <a:pPr algn="ctr"/>
            <a:r>
              <a:rPr lang="tr-TR" sz="2000" b="1" dirty="0">
                <a:solidFill>
                  <a:srgbClr val="012855"/>
                </a:solidFill>
                <a:latin typeface="Helvetica" pitchFamily="2" charset="0"/>
              </a:rPr>
              <a:t>Barış Akalın – 504241575</a:t>
            </a:r>
          </a:p>
        </p:txBody>
      </p:sp>
    </p:spTree>
    <p:extLst>
      <p:ext uri="{BB962C8B-B14F-4D97-AF65-F5344CB8AC3E}">
        <p14:creationId xmlns:p14="http://schemas.microsoft.com/office/powerpoint/2010/main" val="1343456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6522129-3A3B-9752-BF80-D5855E942B89}"/>
              </a:ext>
            </a:extLst>
          </p:cNvPr>
          <p:cNvSpPr txBox="1"/>
          <p:nvPr/>
        </p:nvSpPr>
        <p:spPr>
          <a:xfrm>
            <a:off x="7647602" y="508797"/>
            <a:ext cx="4689745" cy="461665"/>
          </a:xfrm>
          <a:prstGeom prst="rect">
            <a:avLst/>
          </a:prstGeom>
          <a:noFill/>
        </p:spPr>
        <p:txBody>
          <a:bodyPr wrap="none" rtlCol="0">
            <a:spAutoFit/>
          </a:bodyPr>
          <a:lstStyle/>
          <a:p>
            <a:r>
              <a:rPr lang="tr-TR" sz="2400" dirty="0">
                <a:solidFill>
                  <a:schemeClr val="bg1"/>
                </a:solidFill>
                <a:latin typeface="Helvetica" pitchFamily="2" charset="0"/>
              </a:rPr>
              <a:t>Problem Definition </a:t>
            </a:r>
            <a:r>
              <a:rPr lang="tr-TR" sz="2400" dirty="0" err="1">
                <a:solidFill>
                  <a:schemeClr val="bg1"/>
                </a:solidFill>
                <a:latin typeface="Helvetica" pitchFamily="2" charset="0"/>
              </a:rPr>
              <a:t>and</a:t>
            </a:r>
            <a:r>
              <a:rPr lang="tr-TR" sz="2400" dirty="0">
                <a:solidFill>
                  <a:schemeClr val="bg1"/>
                </a:solidFill>
                <a:latin typeface="Helvetica" pitchFamily="2" charset="0"/>
              </a:rPr>
              <a:t> </a:t>
            </a:r>
            <a:r>
              <a:rPr lang="tr-TR" sz="2400" dirty="0" err="1">
                <a:solidFill>
                  <a:schemeClr val="bg1"/>
                </a:solidFill>
                <a:latin typeface="Helvetica" pitchFamily="2" charset="0"/>
              </a:rPr>
              <a:t>Approach</a:t>
            </a:r>
            <a:endParaRPr lang="tr-TR" sz="2400" dirty="0">
              <a:solidFill>
                <a:schemeClr val="bg1"/>
              </a:solidFill>
              <a:latin typeface="Helvetica" pitchFamily="2" charset="0"/>
            </a:endParaRPr>
          </a:p>
        </p:txBody>
      </p:sp>
      <p:sp>
        <p:nvSpPr>
          <p:cNvPr id="3" name="Metin kutusu 2">
            <a:extLst>
              <a:ext uri="{FF2B5EF4-FFF2-40B4-BE49-F238E27FC236}">
                <a16:creationId xmlns:a16="http://schemas.microsoft.com/office/drawing/2014/main" id="{A1CCC1C3-859E-6D78-E9DB-02D44609EAB5}"/>
              </a:ext>
            </a:extLst>
          </p:cNvPr>
          <p:cNvSpPr txBox="1"/>
          <p:nvPr/>
        </p:nvSpPr>
        <p:spPr>
          <a:xfrm>
            <a:off x="4806439" y="6313223"/>
            <a:ext cx="2579123" cy="461665"/>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p:txBody>
      </p:sp>
      <p:sp>
        <p:nvSpPr>
          <p:cNvPr id="4" name="Metin kutusu 3">
            <a:extLst>
              <a:ext uri="{FF2B5EF4-FFF2-40B4-BE49-F238E27FC236}">
                <a16:creationId xmlns:a16="http://schemas.microsoft.com/office/drawing/2014/main" id="{C703CCB2-0E35-8991-9D71-89519EFF94A8}"/>
              </a:ext>
            </a:extLst>
          </p:cNvPr>
          <p:cNvSpPr txBox="1"/>
          <p:nvPr/>
        </p:nvSpPr>
        <p:spPr>
          <a:xfrm>
            <a:off x="768096" y="2048254"/>
            <a:ext cx="8205216" cy="1754326"/>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tr-TR" b="1" dirty="0">
                <a:solidFill>
                  <a:srgbClr val="022756"/>
                </a:solidFill>
                <a:latin typeface="Helvetica" pitchFamily="2" charset="0"/>
              </a:rPr>
              <a:t>Problem Definition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Fine-grained vehicle brand and model recognition from images</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Sensitivity to lighting, viewpoint, background, and reflections</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Limitations of traditional image processing for complex visual patterns</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tr-TR" sz="1800" b="0"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dirty="0">
              <a:solidFill>
                <a:srgbClr val="022756"/>
              </a:solidFill>
              <a:latin typeface="Helvetica" pitchFamily="2" charset="0"/>
            </a:endParaRPr>
          </a:p>
        </p:txBody>
      </p:sp>
      <p:sp>
        <p:nvSpPr>
          <p:cNvPr id="5" name="Metin kutusu 4">
            <a:extLst>
              <a:ext uri="{FF2B5EF4-FFF2-40B4-BE49-F238E27FC236}">
                <a16:creationId xmlns:a16="http://schemas.microsoft.com/office/drawing/2014/main" id="{F0B502E4-71B7-4B0C-89D9-B6D03EA4D961}"/>
              </a:ext>
            </a:extLst>
          </p:cNvPr>
          <p:cNvSpPr txBox="1"/>
          <p:nvPr/>
        </p:nvSpPr>
        <p:spPr>
          <a:xfrm>
            <a:off x="768096" y="3481105"/>
            <a:ext cx="8205216" cy="1477328"/>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tr-TR" b="1" dirty="0" err="1">
                <a:solidFill>
                  <a:srgbClr val="022756"/>
                </a:solidFill>
                <a:latin typeface="Helvetica" pitchFamily="2" charset="0"/>
              </a:rPr>
              <a:t>Approach</a:t>
            </a:r>
            <a:endParaRPr lang="tr-TR" b="1"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dirty="0">
                <a:solidFill>
                  <a:srgbClr val="022756"/>
                </a:solidFill>
                <a:latin typeface="Helvetica" pitchFamily="2" charset="0"/>
              </a:rPr>
              <a:t>1 </a:t>
            </a:r>
            <a:r>
              <a:rPr lang="tr-TR" dirty="0" err="1">
                <a:solidFill>
                  <a:srgbClr val="022756"/>
                </a:solidFill>
                <a:latin typeface="Helvetica" pitchFamily="2" charset="0"/>
              </a:rPr>
              <a:t>Custom</a:t>
            </a:r>
            <a:r>
              <a:rPr lang="tr-TR" dirty="0">
                <a:solidFill>
                  <a:srgbClr val="022756"/>
                </a:solidFill>
                <a:latin typeface="Helvetica" pitchFamily="2" charset="0"/>
              </a:rPr>
              <a:t> </a:t>
            </a:r>
            <a:r>
              <a:rPr lang="tr-TR" dirty="0" err="1">
                <a:solidFill>
                  <a:srgbClr val="022756"/>
                </a:solidFill>
                <a:latin typeface="Helvetica" pitchFamily="2" charset="0"/>
              </a:rPr>
              <a:t>Resnet</a:t>
            </a:r>
            <a:r>
              <a:rPr lang="tr-TR" dirty="0">
                <a:solidFill>
                  <a:srgbClr val="022756"/>
                </a:solidFill>
                <a:latin typeface="Helvetica" pitchFamily="2" charset="0"/>
              </a:rPr>
              <a:t> Model </a:t>
            </a:r>
            <a:r>
              <a:rPr lang="tr-TR" dirty="0" err="1">
                <a:solidFill>
                  <a:srgbClr val="022756"/>
                </a:solidFill>
                <a:latin typeface="Helvetica" pitchFamily="2" charset="0"/>
              </a:rPr>
              <a:t>for</a:t>
            </a:r>
            <a:r>
              <a:rPr lang="tr-TR" dirty="0">
                <a:solidFill>
                  <a:srgbClr val="022756"/>
                </a:solidFill>
                <a:latin typeface="Helvetica" pitchFamily="2" charset="0"/>
              </a:rPr>
              <a:t> </a:t>
            </a:r>
            <a:r>
              <a:rPr lang="tr-TR" dirty="0" err="1">
                <a:solidFill>
                  <a:srgbClr val="022756"/>
                </a:solidFill>
                <a:latin typeface="Helvetica" pitchFamily="2" charset="0"/>
              </a:rPr>
              <a:t>brand</a:t>
            </a:r>
            <a:r>
              <a:rPr lang="tr-TR" dirty="0">
                <a:solidFill>
                  <a:srgbClr val="022756"/>
                </a:solidFill>
                <a:latin typeface="Helvetica" pitchFamily="2" charset="0"/>
              </a:rPr>
              <a:t> </a:t>
            </a:r>
            <a:r>
              <a:rPr lang="tr-TR" dirty="0" err="1">
                <a:solidFill>
                  <a:srgbClr val="022756"/>
                </a:solidFill>
                <a:latin typeface="Helvetica" pitchFamily="2" charset="0"/>
              </a:rPr>
              <a:t>detection</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dirty="0">
                <a:solidFill>
                  <a:srgbClr val="022756"/>
                </a:solidFill>
                <a:latin typeface="Helvetica" pitchFamily="2" charset="0"/>
              </a:rPr>
              <a:t>4 </a:t>
            </a:r>
            <a:r>
              <a:rPr lang="tr-TR" dirty="0" err="1">
                <a:solidFill>
                  <a:srgbClr val="022756"/>
                </a:solidFill>
                <a:latin typeface="Helvetica" pitchFamily="2" charset="0"/>
              </a:rPr>
              <a:t>Custom</a:t>
            </a:r>
            <a:r>
              <a:rPr lang="tr-TR" dirty="0">
                <a:solidFill>
                  <a:srgbClr val="022756"/>
                </a:solidFill>
                <a:latin typeface="Helvetica" pitchFamily="2" charset="0"/>
              </a:rPr>
              <a:t> </a:t>
            </a:r>
            <a:r>
              <a:rPr lang="tr-TR" dirty="0" err="1">
                <a:solidFill>
                  <a:srgbClr val="022756"/>
                </a:solidFill>
                <a:latin typeface="Helvetica" pitchFamily="2" charset="0"/>
              </a:rPr>
              <a:t>Resnet</a:t>
            </a:r>
            <a:r>
              <a:rPr lang="tr-TR" dirty="0">
                <a:solidFill>
                  <a:srgbClr val="022756"/>
                </a:solidFill>
                <a:latin typeface="Helvetica" pitchFamily="2" charset="0"/>
              </a:rPr>
              <a:t> Model </a:t>
            </a:r>
            <a:r>
              <a:rPr lang="tr-TR" dirty="0" err="1">
                <a:solidFill>
                  <a:srgbClr val="022756"/>
                </a:solidFill>
                <a:latin typeface="Helvetica" pitchFamily="2" charset="0"/>
              </a:rPr>
              <a:t>for</a:t>
            </a:r>
            <a:r>
              <a:rPr lang="tr-TR" dirty="0">
                <a:solidFill>
                  <a:srgbClr val="022756"/>
                </a:solidFill>
                <a:latin typeface="Helvetica" pitchFamily="2" charset="0"/>
              </a:rPr>
              <a:t> car model </a:t>
            </a:r>
            <a:r>
              <a:rPr lang="tr-TR" dirty="0" err="1">
                <a:solidFill>
                  <a:srgbClr val="022756"/>
                </a:solidFill>
                <a:latin typeface="Helvetica" pitchFamily="2" charset="0"/>
              </a:rPr>
              <a:t>detection</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tr-TR" sz="1800" b="0"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dirty="0">
              <a:solidFill>
                <a:srgbClr val="022756"/>
              </a:solidFill>
              <a:latin typeface="Helvetica" pitchFamily="2" charset="0"/>
            </a:endParaRPr>
          </a:p>
        </p:txBody>
      </p:sp>
      <p:pic>
        <p:nvPicPr>
          <p:cNvPr id="7" name="Resim 6">
            <a:extLst>
              <a:ext uri="{FF2B5EF4-FFF2-40B4-BE49-F238E27FC236}">
                <a16:creationId xmlns:a16="http://schemas.microsoft.com/office/drawing/2014/main" id="{808D8C57-46E4-42B8-96B3-31F9AEDC871B}"/>
              </a:ext>
            </a:extLst>
          </p:cNvPr>
          <p:cNvPicPr>
            <a:picLocks noChangeAspect="1"/>
          </p:cNvPicPr>
          <p:nvPr/>
        </p:nvPicPr>
        <p:blipFill>
          <a:blip r:embed="rId3"/>
          <a:stretch>
            <a:fillRect/>
          </a:stretch>
        </p:blipFill>
        <p:spPr>
          <a:xfrm>
            <a:off x="7243322" y="3262235"/>
            <a:ext cx="4576482" cy="3050988"/>
          </a:xfrm>
          <a:prstGeom prst="rect">
            <a:avLst/>
          </a:prstGeom>
        </p:spPr>
      </p:pic>
      <p:sp>
        <p:nvSpPr>
          <p:cNvPr id="8" name="Metin kutusu 7">
            <a:extLst>
              <a:ext uri="{FF2B5EF4-FFF2-40B4-BE49-F238E27FC236}">
                <a16:creationId xmlns:a16="http://schemas.microsoft.com/office/drawing/2014/main" id="{E1468CF1-D366-4715-824C-342875A63B29}"/>
              </a:ext>
            </a:extLst>
          </p:cNvPr>
          <p:cNvSpPr txBox="1"/>
          <p:nvPr/>
        </p:nvSpPr>
        <p:spPr>
          <a:xfrm>
            <a:off x="7985530" y="6310487"/>
            <a:ext cx="3092065" cy="276999"/>
          </a:xfrm>
          <a:prstGeom prst="rect">
            <a:avLst/>
          </a:prstGeom>
          <a:noFill/>
        </p:spPr>
        <p:txBody>
          <a:bodyPr wrap="none" rtlCol="0">
            <a:spAutoFit/>
          </a:bodyPr>
          <a:lstStyle/>
          <a:p>
            <a:r>
              <a:rPr lang="tr-TR" sz="1200" dirty="0">
                <a:solidFill>
                  <a:srgbClr val="022756"/>
                </a:solidFill>
                <a:latin typeface="Helvetica" panose="020B0604020202020204" pitchFamily="34" charset="0"/>
                <a:cs typeface="Helvetica" panose="020B0604020202020204" pitchFamily="34" charset="0"/>
              </a:rPr>
              <a:t>Figure-1: </a:t>
            </a:r>
            <a:r>
              <a:rPr lang="tr-TR" sz="1200" dirty="0" err="1">
                <a:solidFill>
                  <a:srgbClr val="022756"/>
                </a:solidFill>
                <a:latin typeface="Helvetica" panose="020B0604020202020204" pitchFamily="34" charset="0"/>
                <a:cs typeface="Helvetica" panose="020B0604020202020204" pitchFamily="34" charset="0"/>
              </a:rPr>
              <a:t>Brand</a:t>
            </a:r>
            <a:r>
              <a:rPr lang="tr-TR" sz="1200" dirty="0">
                <a:solidFill>
                  <a:srgbClr val="022756"/>
                </a:solidFill>
                <a:latin typeface="Helvetica" panose="020B0604020202020204" pitchFamily="34" charset="0"/>
                <a:cs typeface="Helvetica" panose="020B0604020202020204" pitchFamily="34" charset="0"/>
              </a:rPr>
              <a:t>/Model </a:t>
            </a:r>
            <a:r>
              <a:rPr lang="tr-TR" sz="1200" dirty="0" err="1">
                <a:solidFill>
                  <a:srgbClr val="022756"/>
                </a:solidFill>
                <a:latin typeface="Helvetica" panose="020B0604020202020204" pitchFamily="34" charset="0"/>
                <a:cs typeface="Helvetica" panose="020B0604020202020204" pitchFamily="34" charset="0"/>
              </a:rPr>
              <a:t>Detection</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Approach</a:t>
            </a:r>
            <a:endParaRPr lang="tr-TR" sz="1200" dirty="0">
              <a:solidFill>
                <a:srgbClr val="022756"/>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623497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6522129-3A3B-9752-BF80-D5855E942B89}"/>
              </a:ext>
            </a:extLst>
          </p:cNvPr>
          <p:cNvSpPr txBox="1"/>
          <p:nvPr/>
        </p:nvSpPr>
        <p:spPr>
          <a:xfrm>
            <a:off x="7867521" y="462744"/>
            <a:ext cx="3171267" cy="523220"/>
          </a:xfrm>
          <a:prstGeom prst="rect">
            <a:avLst/>
          </a:prstGeom>
          <a:noFill/>
        </p:spPr>
        <p:txBody>
          <a:bodyPr wrap="square" rtlCol="0">
            <a:spAutoFit/>
          </a:bodyPr>
          <a:lstStyle/>
          <a:p>
            <a:r>
              <a:rPr lang="tr-TR" sz="2800" dirty="0" err="1">
                <a:solidFill>
                  <a:schemeClr val="bg1"/>
                </a:solidFill>
                <a:latin typeface="Helvetica" pitchFamily="2" charset="0"/>
              </a:rPr>
              <a:t>Dataset</a:t>
            </a:r>
            <a:r>
              <a:rPr lang="tr-TR" sz="2800" dirty="0">
                <a:solidFill>
                  <a:schemeClr val="bg1"/>
                </a:solidFill>
                <a:latin typeface="Helvetica" pitchFamily="2" charset="0"/>
              </a:rPr>
              <a:t> Collection</a:t>
            </a:r>
          </a:p>
        </p:txBody>
      </p:sp>
      <p:sp>
        <p:nvSpPr>
          <p:cNvPr id="3" name="Metin kutusu 2">
            <a:extLst>
              <a:ext uri="{FF2B5EF4-FFF2-40B4-BE49-F238E27FC236}">
                <a16:creationId xmlns:a16="http://schemas.microsoft.com/office/drawing/2014/main" id="{A1CCC1C3-859E-6D78-E9DB-02D44609EAB5}"/>
              </a:ext>
            </a:extLst>
          </p:cNvPr>
          <p:cNvSpPr txBox="1"/>
          <p:nvPr/>
        </p:nvSpPr>
        <p:spPr>
          <a:xfrm>
            <a:off x="4806439" y="6313223"/>
            <a:ext cx="2579123" cy="646331"/>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a:p>
            <a:pPr algn="ctr"/>
            <a:endParaRPr lang="tr-TR" sz="1200" b="1" dirty="0">
              <a:solidFill>
                <a:srgbClr val="012855"/>
              </a:solidFill>
              <a:latin typeface="Helvetica" pitchFamily="2" charset="0"/>
            </a:endParaRPr>
          </a:p>
        </p:txBody>
      </p:sp>
      <p:sp>
        <p:nvSpPr>
          <p:cNvPr id="4" name="Metin kutusu 3">
            <a:extLst>
              <a:ext uri="{FF2B5EF4-FFF2-40B4-BE49-F238E27FC236}">
                <a16:creationId xmlns:a16="http://schemas.microsoft.com/office/drawing/2014/main" id="{C703CCB2-0E35-8991-9D71-89519EFF94A8}"/>
              </a:ext>
            </a:extLst>
          </p:cNvPr>
          <p:cNvSpPr txBox="1"/>
          <p:nvPr/>
        </p:nvSpPr>
        <p:spPr>
          <a:xfrm>
            <a:off x="768096" y="1629150"/>
            <a:ext cx="5972069" cy="3693319"/>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sz="1800" b="0" dirty="0">
                <a:solidFill>
                  <a:srgbClr val="022756"/>
                </a:solidFill>
                <a:latin typeface="Helvetica" pitchFamily="2" charset="0"/>
              </a:rPr>
              <a:t>Web </a:t>
            </a:r>
            <a:r>
              <a:rPr lang="tr-TR" sz="1800" b="0" dirty="0" err="1">
                <a:solidFill>
                  <a:srgbClr val="022756"/>
                </a:solidFill>
                <a:latin typeface="Helvetica" pitchFamily="2" charset="0"/>
              </a:rPr>
              <a:t>scraping</a:t>
            </a:r>
            <a:r>
              <a:rPr lang="tr-TR" sz="1800" b="0" dirty="0">
                <a:solidFill>
                  <a:srgbClr val="022756"/>
                </a:solidFill>
                <a:latin typeface="Helvetica" pitchFamily="2" charset="0"/>
              </a:rPr>
              <a:t> </a:t>
            </a:r>
            <a:r>
              <a:rPr lang="tr-TR" sz="1800" b="0" dirty="0" err="1">
                <a:solidFill>
                  <a:srgbClr val="022756"/>
                </a:solidFill>
                <a:latin typeface="Helvetica" pitchFamily="2" charset="0"/>
              </a:rPr>
              <a:t>script</a:t>
            </a:r>
            <a:r>
              <a:rPr lang="tr-TR" dirty="0">
                <a:solidFill>
                  <a:srgbClr val="022756"/>
                </a:solidFill>
                <a:latin typeface="Helvetica" pitchFamily="2" charset="0"/>
              </a:rPr>
              <a:t>, data </a:t>
            </a:r>
            <a:r>
              <a:rPr lang="tr-TR" dirty="0" err="1">
                <a:solidFill>
                  <a:srgbClr val="022756"/>
                </a:solidFill>
                <a:latin typeface="Helvetica" pitchFamily="2" charset="0"/>
              </a:rPr>
              <a:t>source</a:t>
            </a:r>
            <a:r>
              <a:rPr lang="tr-TR" dirty="0">
                <a:solidFill>
                  <a:srgbClr val="022756"/>
                </a:solidFill>
                <a:latin typeface="Helvetica" pitchFamily="2" charset="0"/>
              </a:rPr>
              <a:t>:</a:t>
            </a:r>
          </a:p>
          <a:p>
            <a:pPr marR="0" lvl="0" algn="l" defTabSz="457200" rtl="0" eaLnBrk="1" fontAlgn="auto" latinLnBrk="0" hangingPunct="1">
              <a:lnSpc>
                <a:spcPct val="100000"/>
              </a:lnSpc>
              <a:spcBef>
                <a:spcPts val="0"/>
              </a:spcBef>
              <a:spcAft>
                <a:spcPts val="0"/>
              </a:spcAft>
              <a:buClrTx/>
              <a:buSzTx/>
              <a:tabLst/>
              <a:defRPr/>
            </a:pPr>
            <a:r>
              <a:rPr lang="tr-TR" sz="1800" b="0" dirty="0">
                <a:solidFill>
                  <a:srgbClr val="022756"/>
                </a:solidFill>
                <a:latin typeface="Helvetica" pitchFamily="2" charset="0"/>
                <a:hlinkClick r:id="rId3"/>
              </a:rPr>
              <a:t>https://commons.wikimedia.org</a:t>
            </a:r>
            <a:endParaRPr lang="tr-TR" sz="1800" b="0"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dirty="0">
                <a:solidFill>
                  <a:srgbClr val="022756"/>
                </a:solidFill>
                <a:latin typeface="Helvetica" pitchFamily="2" charset="0"/>
              </a:rPr>
              <a:t>10 car </a:t>
            </a:r>
            <a:r>
              <a:rPr lang="tr-TR" dirty="0" err="1">
                <a:solidFill>
                  <a:srgbClr val="022756"/>
                </a:solidFill>
                <a:latin typeface="Helvetica" pitchFamily="2" charset="0"/>
              </a:rPr>
              <a:t>photos</a:t>
            </a:r>
            <a:r>
              <a:rPr lang="tr-TR" dirty="0">
                <a:solidFill>
                  <a:srgbClr val="022756"/>
                </a:solidFill>
                <a:latin typeface="Helvetica" pitchFamily="2" charset="0"/>
              </a:rPr>
              <a:t> </a:t>
            </a:r>
            <a:r>
              <a:rPr lang="tr-TR" dirty="0" err="1">
                <a:solidFill>
                  <a:srgbClr val="022756"/>
                </a:solidFill>
                <a:latin typeface="Helvetica" pitchFamily="2" charset="0"/>
              </a:rPr>
              <a:t>are</a:t>
            </a:r>
            <a:r>
              <a:rPr lang="tr-TR" dirty="0">
                <a:solidFill>
                  <a:srgbClr val="022756"/>
                </a:solidFill>
                <a:latin typeface="Helvetica" pitchFamily="2" charset="0"/>
              </a:rPr>
              <a:t> </a:t>
            </a:r>
            <a:r>
              <a:rPr lang="tr-TR" dirty="0" err="1">
                <a:solidFill>
                  <a:srgbClr val="022756"/>
                </a:solidFill>
                <a:latin typeface="Helvetica" pitchFamily="2" charset="0"/>
              </a:rPr>
              <a:t>taken</a:t>
            </a:r>
            <a:r>
              <a:rPr lang="tr-TR" dirty="0">
                <a:solidFill>
                  <a:srgbClr val="022756"/>
                </a:solidFill>
                <a:latin typeface="Helvetica" pitchFamily="2" charset="0"/>
              </a:rPr>
              <a:t> </a:t>
            </a:r>
            <a:r>
              <a:rPr lang="tr-TR" dirty="0" err="1">
                <a:solidFill>
                  <a:srgbClr val="022756"/>
                </a:solidFill>
                <a:latin typeface="Helvetica" pitchFamily="2" charset="0"/>
              </a:rPr>
              <a:t>by</a:t>
            </a:r>
            <a:r>
              <a:rPr lang="tr-TR" dirty="0">
                <a:solidFill>
                  <a:srgbClr val="022756"/>
                </a:solidFill>
                <a:latin typeface="Helvetica" pitchFamily="2" charset="0"/>
              </a:rPr>
              <a:t> </a:t>
            </a:r>
            <a:r>
              <a:rPr lang="tr-TR" dirty="0" err="1">
                <a:solidFill>
                  <a:srgbClr val="022756"/>
                </a:solidFill>
                <a:latin typeface="Helvetica" pitchFamily="2" charset="0"/>
              </a:rPr>
              <a:t>ourselves</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sz="1800" b="0" dirty="0" err="1">
                <a:solidFill>
                  <a:srgbClr val="022756"/>
                </a:solidFill>
                <a:latin typeface="Helvetica" pitchFamily="2" charset="0"/>
              </a:rPr>
              <a:t>Brands</a:t>
            </a:r>
            <a:r>
              <a:rPr lang="tr-TR" sz="1800" b="0" dirty="0">
                <a:solidFill>
                  <a:srgbClr val="022756"/>
                </a:solidFill>
                <a:latin typeface="Helvetica" pitchFamily="2" charset="0"/>
              </a:rPr>
              <a:t> </a:t>
            </a:r>
            <a:r>
              <a:rPr lang="tr-TR" sz="1800" b="0" dirty="0" err="1">
                <a:solidFill>
                  <a:srgbClr val="022756"/>
                </a:solidFill>
                <a:latin typeface="Helvetica" pitchFamily="2" charset="0"/>
              </a:rPr>
              <a:t>and</a:t>
            </a:r>
            <a:r>
              <a:rPr lang="tr-TR" sz="1800" b="0" dirty="0">
                <a:solidFill>
                  <a:srgbClr val="022756"/>
                </a:solidFill>
                <a:latin typeface="Helvetica" pitchFamily="2" charset="0"/>
              </a:rPr>
              <a:t> </a:t>
            </a:r>
            <a:r>
              <a:rPr lang="tr-TR" sz="1800" b="0" dirty="0" err="1">
                <a:solidFill>
                  <a:srgbClr val="022756"/>
                </a:solidFill>
                <a:latin typeface="Helvetica" pitchFamily="2" charset="0"/>
              </a:rPr>
              <a:t>Models</a:t>
            </a:r>
            <a:r>
              <a:rPr lang="tr-TR" dirty="0">
                <a:solidFill>
                  <a:srgbClr val="022756"/>
                </a:solidFill>
                <a:latin typeface="Helvetica" pitchFamily="2" charset="0"/>
              </a:rPr>
              <a:t>:</a:t>
            </a:r>
          </a:p>
          <a:p>
            <a:pPr marL="742950" lvl="1" indent="-285750">
              <a:buFont typeface="Arial" panose="020B0604020202020204" pitchFamily="34" charset="0"/>
              <a:buChar char="•"/>
              <a:defRPr/>
            </a:pPr>
            <a:r>
              <a:rPr lang="tr-TR" b="0" dirty="0">
                <a:solidFill>
                  <a:srgbClr val="022756"/>
                </a:solidFill>
                <a:latin typeface="Helvetica" pitchFamily="2" charset="0"/>
              </a:rPr>
              <a:t>Ford_F-150_(</a:t>
            </a:r>
            <a:r>
              <a:rPr lang="tr-TR" b="0" dirty="0" err="1">
                <a:solidFill>
                  <a:srgbClr val="022756"/>
                </a:solidFill>
                <a:latin typeface="Helvetica" pitchFamily="2" charset="0"/>
              </a:rPr>
              <a:t>thirteenth_generation</a:t>
            </a:r>
            <a:r>
              <a:rPr lang="tr-TR" b="0" dirty="0">
                <a:solidFill>
                  <a:srgbClr val="022756"/>
                </a:solidFill>
                <a:latin typeface="Helvetica" pitchFamily="2" charset="0"/>
              </a:rPr>
              <a:t>)</a:t>
            </a:r>
          </a:p>
          <a:p>
            <a:pPr marL="742950" lvl="1" indent="-285750">
              <a:buFont typeface="Arial" panose="020B0604020202020204" pitchFamily="34" charset="0"/>
              <a:buChar char="•"/>
              <a:defRPr/>
            </a:pPr>
            <a:r>
              <a:rPr lang="tr-TR" b="0" dirty="0" err="1">
                <a:solidFill>
                  <a:srgbClr val="022756"/>
                </a:solidFill>
                <a:latin typeface="Helvetica" pitchFamily="2" charset="0"/>
              </a:rPr>
              <a:t>Ford_Mustang_VI</a:t>
            </a:r>
            <a:endParaRPr lang="tr-TR" b="0" dirty="0">
              <a:solidFill>
                <a:srgbClr val="022756"/>
              </a:solidFill>
              <a:latin typeface="Helvetica" pitchFamily="2" charset="0"/>
            </a:endParaRPr>
          </a:p>
          <a:p>
            <a:pPr marL="742950" lvl="1" indent="-285750">
              <a:buFont typeface="Arial" panose="020B0604020202020204" pitchFamily="34" charset="0"/>
              <a:buChar char="•"/>
              <a:defRPr/>
            </a:pPr>
            <a:r>
              <a:rPr lang="tr-TR" b="0" dirty="0" err="1">
                <a:solidFill>
                  <a:srgbClr val="022756"/>
                </a:solidFill>
                <a:latin typeface="Helvetica" pitchFamily="2" charset="0"/>
              </a:rPr>
              <a:t>Renault_Kangoo_I</a:t>
            </a:r>
            <a:endParaRPr lang="tr-TR" b="0" dirty="0">
              <a:solidFill>
                <a:srgbClr val="022756"/>
              </a:solidFill>
              <a:latin typeface="Helvetica" pitchFamily="2" charset="0"/>
            </a:endParaRPr>
          </a:p>
          <a:p>
            <a:pPr marL="742950" lvl="1" indent="-285750">
              <a:buFont typeface="Arial" panose="020B0604020202020204" pitchFamily="34" charset="0"/>
              <a:buChar char="•"/>
              <a:defRPr/>
            </a:pPr>
            <a:r>
              <a:rPr lang="tr-TR" b="0" dirty="0" err="1">
                <a:solidFill>
                  <a:srgbClr val="022756"/>
                </a:solidFill>
                <a:latin typeface="Helvetica" pitchFamily="2" charset="0"/>
              </a:rPr>
              <a:t>Renault_Twizy_Z.E</a:t>
            </a:r>
            <a:r>
              <a:rPr lang="tr-TR" dirty="0">
                <a:solidFill>
                  <a:srgbClr val="022756"/>
                </a:solidFill>
                <a:latin typeface="Helvetica" pitchFamily="2" charset="0"/>
              </a:rPr>
              <a:t>.</a:t>
            </a:r>
            <a:endParaRPr lang="tr-TR" b="0" dirty="0">
              <a:solidFill>
                <a:srgbClr val="022756"/>
              </a:solidFill>
              <a:latin typeface="Helvetica" pitchFamily="2" charset="0"/>
            </a:endParaRPr>
          </a:p>
          <a:p>
            <a:pPr marL="742950" lvl="1" indent="-285750">
              <a:buFont typeface="Arial" panose="020B0604020202020204" pitchFamily="34" charset="0"/>
              <a:buChar char="•"/>
              <a:defRPr/>
            </a:pPr>
            <a:r>
              <a:rPr lang="tr-TR" b="0" dirty="0" err="1">
                <a:solidFill>
                  <a:srgbClr val="022756"/>
                </a:solidFill>
                <a:latin typeface="Helvetica" pitchFamily="2" charset="0"/>
              </a:rPr>
              <a:t>Toyota_Land_Cruiser</a:t>
            </a:r>
            <a:r>
              <a:rPr lang="tr-TR" b="0" dirty="0">
                <a:solidFill>
                  <a:srgbClr val="022756"/>
                </a:solidFill>
                <a:latin typeface="Helvetica" pitchFamily="2" charset="0"/>
              </a:rPr>
              <a:t>_(J40)</a:t>
            </a:r>
          </a:p>
          <a:p>
            <a:pPr marL="742950" lvl="1" indent="-285750">
              <a:buFont typeface="Arial" panose="020B0604020202020204" pitchFamily="34" charset="0"/>
              <a:buChar char="•"/>
              <a:defRPr/>
            </a:pPr>
            <a:r>
              <a:rPr lang="tr-TR" b="0" dirty="0" err="1">
                <a:solidFill>
                  <a:srgbClr val="022756"/>
                </a:solidFill>
                <a:latin typeface="Helvetica" pitchFamily="2" charset="0"/>
              </a:rPr>
              <a:t>Toyota_Supra</a:t>
            </a:r>
            <a:r>
              <a:rPr lang="tr-TR" b="0" dirty="0">
                <a:solidFill>
                  <a:srgbClr val="022756"/>
                </a:solidFill>
                <a:latin typeface="Helvetica" pitchFamily="2" charset="0"/>
              </a:rPr>
              <a:t>_(A80)</a:t>
            </a:r>
          </a:p>
          <a:p>
            <a:pPr marL="742950" lvl="1" indent="-285750">
              <a:buFont typeface="Arial" panose="020B0604020202020204" pitchFamily="34" charset="0"/>
              <a:buChar char="•"/>
              <a:defRPr/>
            </a:pPr>
            <a:r>
              <a:rPr lang="tr-TR" b="0" dirty="0">
                <a:solidFill>
                  <a:srgbClr val="022756"/>
                </a:solidFill>
                <a:latin typeface="Helvetica" pitchFamily="2" charset="0"/>
              </a:rPr>
              <a:t>Volkswagen_Passat_B6</a:t>
            </a:r>
          </a:p>
          <a:p>
            <a:pPr marL="742950" lvl="1" indent="-285750">
              <a:buFont typeface="Arial" panose="020B0604020202020204" pitchFamily="34" charset="0"/>
              <a:buChar char="•"/>
              <a:defRPr/>
            </a:pPr>
            <a:r>
              <a:rPr lang="tr-TR" b="0" dirty="0">
                <a:solidFill>
                  <a:srgbClr val="022756"/>
                </a:solidFill>
                <a:latin typeface="Helvetica" pitchFamily="2" charset="0"/>
              </a:rPr>
              <a:t>Volkswagen_Type_1</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dirty="0">
              <a:solidFill>
                <a:srgbClr val="022756"/>
              </a:solidFill>
              <a:latin typeface="Helvetica" pitchFamily="2" charset="0"/>
            </a:endParaRPr>
          </a:p>
        </p:txBody>
      </p:sp>
      <p:pic>
        <p:nvPicPr>
          <p:cNvPr id="6" name="Resim 5">
            <a:extLst>
              <a:ext uri="{FF2B5EF4-FFF2-40B4-BE49-F238E27FC236}">
                <a16:creationId xmlns:a16="http://schemas.microsoft.com/office/drawing/2014/main" id="{8B44C6C5-C2F5-47FC-BDCF-40F9E8B46E19}"/>
              </a:ext>
            </a:extLst>
          </p:cNvPr>
          <p:cNvPicPr>
            <a:picLocks noChangeAspect="1"/>
          </p:cNvPicPr>
          <p:nvPr/>
        </p:nvPicPr>
        <p:blipFill>
          <a:blip r:embed="rId4"/>
          <a:stretch>
            <a:fillRect/>
          </a:stretch>
        </p:blipFill>
        <p:spPr>
          <a:xfrm>
            <a:off x="6869354" y="1629150"/>
            <a:ext cx="4713321" cy="3416321"/>
          </a:xfrm>
          <a:prstGeom prst="rect">
            <a:avLst/>
          </a:prstGeom>
        </p:spPr>
      </p:pic>
      <p:sp>
        <p:nvSpPr>
          <p:cNvPr id="7" name="Metin kutusu 6">
            <a:extLst>
              <a:ext uri="{FF2B5EF4-FFF2-40B4-BE49-F238E27FC236}">
                <a16:creationId xmlns:a16="http://schemas.microsoft.com/office/drawing/2014/main" id="{85A12B74-4EBB-4AA9-80F3-BF6267435D87}"/>
              </a:ext>
            </a:extLst>
          </p:cNvPr>
          <p:cNvSpPr txBox="1"/>
          <p:nvPr/>
        </p:nvSpPr>
        <p:spPr>
          <a:xfrm>
            <a:off x="7757016" y="5090350"/>
            <a:ext cx="3392275" cy="276999"/>
          </a:xfrm>
          <a:prstGeom prst="rect">
            <a:avLst/>
          </a:prstGeom>
          <a:noFill/>
        </p:spPr>
        <p:txBody>
          <a:bodyPr wrap="none" rtlCol="0">
            <a:spAutoFit/>
          </a:bodyPr>
          <a:lstStyle/>
          <a:p>
            <a:r>
              <a:rPr lang="tr-TR" sz="1200" dirty="0">
                <a:solidFill>
                  <a:srgbClr val="022756"/>
                </a:solidFill>
                <a:latin typeface="Helvetica" panose="020B0604020202020204" pitchFamily="34" charset="0"/>
                <a:cs typeface="Helvetica" panose="020B0604020202020204" pitchFamily="34" charset="0"/>
              </a:rPr>
              <a:t>Figure-2: </a:t>
            </a:r>
            <a:r>
              <a:rPr lang="tr-TR" sz="1200" dirty="0" err="1">
                <a:solidFill>
                  <a:srgbClr val="022756"/>
                </a:solidFill>
                <a:latin typeface="Helvetica" panose="020B0604020202020204" pitchFamily="34" charset="0"/>
                <a:cs typeface="Helvetica" panose="020B0604020202020204" pitchFamily="34" charset="0"/>
              </a:rPr>
              <a:t>Dataset</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Classes</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and</a:t>
            </a:r>
            <a:r>
              <a:rPr lang="tr-TR" sz="1200" dirty="0">
                <a:solidFill>
                  <a:srgbClr val="022756"/>
                </a:solidFill>
                <a:latin typeface="Helvetica" panose="020B0604020202020204" pitchFamily="34" charset="0"/>
                <a:cs typeface="Helvetica" panose="020B0604020202020204" pitchFamily="34" charset="0"/>
              </a:rPr>
              <a:t> Image </a:t>
            </a:r>
            <a:r>
              <a:rPr lang="tr-TR" sz="1200" dirty="0" err="1">
                <a:solidFill>
                  <a:srgbClr val="022756"/>
                </a:solidFill>
                <a:latin typeface="Helvetica" panose="020B0604020202020204" pitchFamily="34" charset="0"/>
                <a:cs typeface="Helvetica" panose="020B0604020202020204" pitchFamily="34" charset="0"/>
              </a:rPr>
              <a:t>Numbers</a:t>
            </a:r>
            <a:endParaRPr lang="tr-TR" sz="1200" dirty="0">
              <a:solidFill>
                <a:srgbClr val="022756"/>
              </a:solidFill>
              <a:latin typeface="Helvetica" panose="020B0604020202020204" pitchFamily="34" charset="0"/>
              <a:cs typeface="Helvetica" panose="020B0604020202020204" pitchFamily="34" charset="0"/>
            </a:endParaRPr>
          </a:p>
        </p:txBody>
      </p:sp>
      <p:pic>
        <p:nvPicPr>
          <p:cNvPr id="9" name="Resim 8">
            <a:extLst>
              <a:ext uri="{FF2B5EF4-FFF2-40B4-BE49-F238E27FC236}">
                <a16:creationId xmlns:a16="http://schemas.microsoft.com/office/drawing/2014/main" id="{AD7BEDD5-C69C-4EBF-BD1E-74C5E3E92692}"/>
              </a:ext>
            </a:extLst>
          </p:cNvPr>
          <p:cNvPicPr>
            <a:picLocks noChangeAspect="1"/>
          </p:cNvPicPr>
          <p:nvPr/>
        </p:nvPicPr>
        <p:blipFill>
          <a:blip r:embed="rId5"/>
          <a:stretch>
            <a:fillRect/>
          </a:stretch>
        </p:blipFill>
        <p:spPr>
          <a:xfrm>
            <a:off x="768096" y="5169955"/>
            <a:ext cx="1375856" cy="1437888"/>
          </a:xfrm>
          <a:prstGeom prst="rect">
            <a:avLst/>
          </a:prstGeom>
        </p:spPr>
      </p:pic>
      <p:pic>
        <p:nvPicPr>
          <p:cNvPr id="11" name="Resim 10">
            <a:extLst>
              <a:ext uri="{FF2B5EF4-FFF2-40B4-BE49-F238E27FC236}">
                <a16:creationId xmlns:a16="http://schemas.microsoft.com/office/drawing/2014/main" id="{CBC70411-9865-47A4-AB61-6B0845E8247A}"/>
              </a:ext>
            </a:extLst>
          </p:cNvPr>
          <p:cNvPicPr>
            <a:picLocks noChangeAspect="1"/>
          </p:cNvPicPr>
          <p:nvPr/>
        </p:nvPicPr>
        <p:blipFill>
          <a:blip r:embed="rId6"/>
          <a:stretch>
            <a:fillRect/>
          </a:stretch>
        </p:blipFill>
        <p:spPr>
          <a:xfrm>
            <a:off x="2323635" y="5311359"/>
            <a:ext cx="2303121" cy="1325029"/>
          </a:xfrm>
          <a:prstGeom prst="rect">
            <a:avLst/>
          </a:prstGeom>
        </p:spPr>
      </p:pic>
    </p:spTree>
    <p:extLst>
      <p:ext uri="{BB962C8B-B14F-4D97-AF65-F5344CB8AC3E}">
        <p14:creationId xmlns:p14="http://schemas.microsoft.com/office/powerpoint/2010/main" val="665914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6522129-3A3B-9752-BF80-D5855E942B89}"/>
              </a:ext>
            </a:extLst>
          </p:cNvPr>
          <p:cNvSpPr txBox="1"/>
          <p:nvPr/>
        </p:nvSpPr>
        <p:spPr>
          <a:xfrm>
            <a:off x="7867521" y="462744"/>
            <a:ext cx="3164071" cy="523220"/>
          </a:xfrm>
          <a:prstGeom prst="rect">
            <a:avLst/>
          </a:prstGeom>
          <a:noFill/>
        </p:spPr>
        <p:txBody>
          <a:bodyPr wrap="none" rtlCol="0">
            <a:spAutoFit/>
          </a:bodyPr>
          <a:lstStyle/>
          <a:p>
            <a:r>
              <a:rPr lang="tr-TR" sz="2800" dirty="0">
                <a:solidFill>
                  <a:schemeClr val="bg1"/>
                </a:solidFill>
                <a:latin typeface="Helvetica" pitchFamily="2" charset="0"/>
              </a:rPr>
              <a:t>Model Architecture</a:t>
            </a:r>
          </a:p>
        </p:txBody>
      </p:sp>
      <p:sp>
        <p:nvSpPr>
          <p:cNvPr id="3" name="Metin kutusu 2">
            <a:extLst>
              <a:ext uri="{FF2B5EF4-FFF2-40B4-BE49-F238E27FC236}">
                <a16:creationId xmlns:a16="http://schemas.microsoft.com/office/drawing/2014/main" id="{A1CCC1C3-859E-6D78-E9DB-02D44609EAB5}"/>
              </a:ext>
            </a:extLst>
          </p:cNvPr>
          <p:cNvSpPr txBox="1"/>
          <p:nvPr/>
        </p:nvSpPr>
        <p:spPr>
          <a:xfrm>
            <a:off x="4806439" y="6313223"/>
            <a:ext cx="2579123" cy="461665"/>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p:txBody>
      </p:sp>
      <p:pic>
        <p:nvPicPr>
          <p:cNvPr id="8" name="Resim 7">
            <a:extLst>
              <a:ext uri="{FF2B5EF4-FFF2-40B4-BE49-F238E27FC236}">
                <a16:creationId xmlns:a16="http://schemas.microsoft.com/office/drawing/2014/main" id="{55FFEF27-A131-4449-BEAA-F0B09CFC5930}"/>
              </a:ext>
            </a:extLst>
          </p:cNvPr>
          <p:cNvPicPr>
            <a:picLocks noChangeAspect="1"/>
          </p:cNvPicPr>
          <p:nvPr/>
        </p:nvPicPr>
        <p:blipFill>
          <a:blip r:embed="rId3"/>
          <a:stretch>
            <a:fillRect/>
          </a:stretch>
        </p:blipFill>
        <p:spPr>
          <a:xfrm>
            <a:off x="1394847" y="985964"/>
            <a:ext cx="3628408" cy="5442613"/>
          </a:xfrm>
          <a:prstGeom prst="rect">
            <a:avLst/>
          </a:prstGeom>
        </p:spPr>
      </p:pic>
      <p:sp>
        <p:nvSpPr>
          <p:cNvPr id="9" name="Metin kutusu 8">
            <a:extLst>
              <a:ext uri="{FF2B5EF4-FFF2-40B4-BE49-F238E27FC236}">
                <a16:creationId xmlns:a16="http://schemas.microsoft.com/office/drawing/2014/main" id="{C0945D66-4985-404E-AEEF-9F44E1969108}"/>
              </a:ext>
            </a:extLst>
          </p:cNvPr>
          <p:cNvSpPr txBox="1"/>
          <p:nvPr/>
        </p:nvSpPr>
        <p:spPr>
          <a:xfrm>
            <a:off x="1710904" y="6390166"/>
            <a:ext cx="2779479" cy="276999"/>
          </a:xfrm>
          <a:prstGeom prst="rect">
            <a:avLst/>
          </a:prstGeom>
          <a:noFill/>
        </p:spPr>
        <p:txBody>
          <a:bodyPr wrap="none" rtlCol="0">
            <a:spAutoFit/>
          </a:bodyPr>
          <a:lstStyle/>
          <a:p>
            <a:r>
              <a:rPr lang="tr-TR" sz="1200" dirty="0">
                <a:solidFill>
                  <a:srgbClr val="022756"/>
                </a:solidFill>
                <a:latin typeface="Helvetica" panose="020B0604020202020204" pitchFamily="34" charset="0"/>
                <a:cs typeface="Helvetica" panose="020B0604020202020204" pitchFamily="34" charset="0"/>
              </a:rPr>
              <a:t>Figure-3: </a:t>
            </a:r>
            <a:r>
              <a:rPr lang="tr-TR" sz="1200" dirty="0" err="1">
                <a:solidFill>
                  <a:srgbClr val="022756"/>
                </a:solidFill>
                <a:latin typeface="Helvetica" panose="020B0604020202020204" pitchFamily="34" charset="0"/>
                <a:cs typeface="Helvetica" panose="020B0604020202020204" pitchFamily="34" charset="0"/>
              </a:rPr>
              <a:t>Custom</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ResNet</a:t>
            </a:r>
            <a:r>
              <a:rPr lang="tr-TR" sz="1200" dirty="0">
                <a:solidFill>
                  <a:srgbClr val="022756"/>
                </a:solidFill>
                <a:latin typeface="Helvetica" panose="020B0604020202020204" pitchFamily="34" charset="0"/>
                <a:cs typeface="Helvetica" panose="020B0604020202020204" pitchFamily="34" charset="0"/>
              </a:rPr>
              <a:t> Architecture</a:t>
            </a:r>
          </a:p>
        </p:txBody>
      </p:sp>
      <p:sp>
        <p:nvSpPr>
          <p:cNvPr id="10" name="Metin kutusu 9">
            <a:extLst>
              <a:ext uri="{FF2B5EF4-FFF2-40B4-BE49-F238E27FC236}">
                <a16:creationId xmlns:a16="http://schemas.microsoft.com/office/drawing/2014/main" id="{2E682FF2-5EC0-406D-A9CC-EBE262E3F42F}"/>
              </a:ext>
            </a:extLst>
          </p:cNvPr>
          <p:cNvSpPr txBox="1"/>
          <p:nvPr/>
        </p:nvSpPr>
        <p:spPr>
          <a:xfrm>
            <a:off x="7268828" y="6390165"/>
            <a:ext cx="3428246" cy="276999"/>
          </a:xfrm>
          <a:prstGeom prst="rect">
            <a:avLst/>
          </a:prstGeom>
          <a:noFill/>
        </p:spPr>
        <p:txBody>
          <a:bodyPr wrap="none" rtlCol="0">
            <a:spAutoFit/>
          </a:bodyPr>
          <a:lstStyle/>
          <a:p>
            <a:r>
              <a:rPr lang="tr-TR" sz="1200" dirty="0">
                <a:solidFill>
                  <a:srgbClr val="022756"/>
                </a:solidFill>
                <a:latin typeface="Helvetica" panose="020B0604020202020204" pitchFamily="34" charset="0"/>
                <a:cs typeface="Helvetica" panose="020B0604020202020204" pitchFamily="34" charset="0"/>
              </a:rPr>
              <a:t>Figure-4: </a:t>
            </a:r>
            <a:r>
              <a:rPr lang="tr-TR" sz="1200" dirty="0" err="1">
                <a:solidFill>
                  <a:srgbClr val="022756"/>
                </a:solidFill>
                <a:latin typeface="Helvetica" panose="020B0604020202020204" pitchFamily="34" charset="0"/>
                <a:cs typeface="Helvetica" panose="020B0604020202020204" pitchFamily="34" charset="0"/>
              </a:rPr>
              <a:t>Custom</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ResNet</a:t>
            </a:r>
            <a:r>
              <a:rPr lang="tr-TR" sz="1200" dirty="0">
                <a:solidFill>
                  <a:srgbClr val="022756"/>
                </a:solidFill>
                <a:latin typeface="Helvetica" panose="020B0604020202020204" pitchFamily="34" charset="0"/>
                <a:cs typeface="Helvetica" panose="020B0604020202020204" pitchFamily="34" charset="0"/>
              </a:rPr>
              <a:t> </a:t>
            </a:r>
            <a:r>
              <a:rPr lang="tr-TR" sz="1200" dirty="0" err="1">
                <a:solidFill>
                  <a:srgbClr val="022756"/>
                </a:solidFill>
                <a:latin typeface="Helvetica" panose="020B0604020202020204" pitchFamily="34" charset="0"/>
                <a:cs typeface="Helvetica" panose="020B0604020202020204" pitchFamily="34" charset="0"/>
              </a:rPr>
              <a:t>Alternate</a:t>
            </a:r>
            <a:r>
              <a:rPr lang="tr-TR" sz="1200" dirty="0">
                <a:solidFill>
                  <a:srgbClr val="022756"/>
                </a:solidFill>
                <a:latin typeface="Helvetica" panose="020B0604020202020204" pitchFamily="34" charset="0"/>
                <a:cs typeface="Helvetica" panose="020B0604020202020204" pitchFamily="34" charset="0"/>
              </a:rPr>
              <a:t> Architecture</a:t>
            </a:r>
          </a:p>
        </p:txBody>
      </p:sp>
      <p:pic>
        <p:nvPicPr>
          <p:cNvPr id="12" name="Resim 11">
            <a:extLst>
              <a:ext uri="{FF2B5EF4-FFF2-40B4-BE49-F238E27FC236}">
                <a16:creationId xmlns:a16="http://schemas.microsoft.com/office/drawing/2014/main" id="{5A36B8EB-1882-4DD2-BD5B-44392C60310D}"/>
              </a:ext>
            </a:extLst>
          </p:cNvPr>
          <p:cNvPicPr>
            <a:picLocks noChangeAspect="1"/>
          </p:cNvPicPr>
          <p:nvPr/>
        </p:nvPicPr>
        <p:blipFill>
          <a:blip r:embed="rId4"/>
          <a:stretch>
            <a:fillRect/>
          </a:stretch>
        </p:blipFill>
        <p:spPr>
          <a:xfrm>
            <a:off x="7168747" y="985963"/>
            <a:ext cx="3628409" cy="5442613"/>
          </a:xfrm>
          <a:prstGeom prst="rect">
            <a:avLst/>
          </a:prstGeom>
        </p:spPr>
      </p:pic>
    </p:spTree>
    <p:extLst>
      <p:ext uri="{BB962C8B-B14F-4D97-AF65-F5344CB8AC3E}">
        <p14:creationId xmlns:p14="http://schemas.microsoft.com/office/powerpoint/2010/main" val="304637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6522129-3A3B-9752-BF80-D5855E942B89}"/>
              </a:ext>
            </a:extLst>
          </p:cNvPr>
          <p:cNvSpPr txBox="1"/>
          <p:nvPr/>
        </p:nvSpPr>
        <p:spPr>
          <a:xfrm>
            <a:off x="7867521" y="462744"/>
            <a:ext cx="4182555" cy="954107"/>
          </a:xfrm>
          <a:prstGeom prst="rect">
            <a:avLst/>
          </a:prstGeom>
          <a:noFill/>
        </p:spPr>
        <p:txBody>
          <a:bodyPr wrap="none" rtlCol="0">
            <a:spAutoFit/>
          </a:bodyPr>
          <a:lstStyle/>
          <a:p>
            <a:r>
              <a:rPr lang="tr-TR" sz="2800" dirty="0" err="1">
                <a:solidFill>
                  <a:schemeClr val="bg1"/>
                </a:solidFill>
                <a:latin typeface="Helvetica" pitchFamily="2" charset="0"/>
              </a:rPr>
              <a:t>Results</a:t>
            </a:r>
            <a:r>
              <a:rPr lang="tr-TR" sz="2800" dirty="0">
                <a:solidFill>
                  <a:schemeClr val="bg1"/>
                </a:solidFill>
                <a:latin typeface="Helvetica" pitchFamily="2" charset="0"/>
              </a:rPr>
              <a:t> </a:t>
            </a:r>
            <a:r>
              <a:rPr lang="tr-TR" sz="2800" dirty="0" err="1">
                <a:solidFill>
                  <a:schemeClr val="bg1"/>
                </a:solidFill>
                <a:latin typeface="Helvetica" pitchFamily="2" charset="0"/>
              </a:rPr>
              <a:t>and</a:t>
            </a:r>
            <a:r>
              <a:rPr lang="tr-TR" sz="2800" dirty="0">
                <a:solidFill>
                  <a:schemeClr val="bg1"/>
                </a:solidFill>
                <a:latin typeface="Helvetica" pitchFamily="2" charset="0"/>
              </a:rPr>
              <a:t> </a:t>
            </a:r>
            <a:r>
              <a:rPr lang="tr-TR" sz="2800" dirty="0" err="1">
                <a:solidFill>
                  <a:schemeClr val="bg1"/>
                </a:solidFill>
                <a:latin typeface="Helvetica" pitchFamily="2" charset="0"/>
              </a:rPr>
              <a:t>Experiments</a:t>
            </a:r>
            <a:endParaRPr lang="tr-TR" sz="2800" dirty="0">
              <a:solidFill>
                <a:schemeClr val="bg1"/>
              </a:solidFill>
              <a:latin typeface="Helvetica" pitchFamily="2" charset="0"/>
            </a:endParaRPr>
          </a:p>
          <a:p>
            <a:endParaRPr lang="tr-TR" sz="2800" dirty="0">
              <a:solidFill>
                <a:schemeClr val="bg1"/>
              </a:solidFill>
              <a:latin typeface="Helvetica" pitchFamily="2" charset="0"/>
            </a:endParaRPr>
          </a:p>
        </p:txBody>
      </p:sp>
      <p:sp>
        <p:nvSpPr>
          <p:cNvPr id="3" name="Metin kutusu 2">
            <a:extLst>
              <a:ext uri="{FF2B5EF4-FFF2-40B4-BE49-F238E27FC236}">
                <a16:creationId xmlns:a16="http://schemas.microsoft.com/office/drawing/2014/main" id="{A1CCC1C3-859E-6D78-E9DB-02D44609EAB5}"/>
              </a:ext>
            </a:extLst>
          </p:cNvPr>
          <p:cNvSpPr txBox="1"/>
          <p:nvPr/>
        </p:nvSpPr>
        <p:spPr>
          <a:xfrm>
            <a:off x="4806439" y="6313223"/>
            <a:ext cx="2579123" cy="461665"/>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p:txBody>
      </p:sp>
      <p:sp>
        <p:nvSpPr>
          <p:cNvPr id="4" name="Metin kutusu 3">
            <a:extLst>
              <a:ext uri="{FF2B5EF4-FFF2-40B4-BE49-F238E27FC236}">
                <a16:creationId xmlns:a16="http://schemas.microsoft.com/office/drawing/2014/main" id="{C703CCB2-0E35-8991-9D71-89519EFF94A8}"/>
              </a:ext>
            </a:extLst>
          </p:cNvPr>
          <p:cNvSpPr txBox="1"/>
          <p:nvPr/>
        </p:nvSpPr>
        <p:spPr>
          <a:xfrm>
            <a:off x="1124262" y="1021099"/>
            <a:ext cx="10343542" cy="369332"/>
          </a:xfrm>
          <a:prstGeom prst="rect">
            <a:avLst/>
          </a:prstGeom>
          <a:noFill/>
        </p:spPr>
        <p:txBody>
          <a:bodyPr wrap="square" rtlCol="0">
            <a:spAutoFit/>
          </a:bodyPr>
          <a:lstStyle/>
          <a:p>
            <a:pPr lvl="0">
              <a:defRPr/>
            </a:pPr>
            <a:r>
              <a:rPr lang="tr-TR" sz="1800" b="0" dirty="0" err="1">
                <a:solidFill>
                  <a:srgbClr val="022756"/>
                </a:solidFill>
                <a:latin typeface="Helvetica" pitchFamily="2" charset="0"/>
              </a:rPr>
              <a:t>Brand</a:t>
            </a:r>
            <a:r>
              <a:rPr lang="tr-TR" sz="1800" b="0" dirty="0">
                <a:solidFill>
                  <a:srgbClr val="022756"/>
                </a:solidFill>
                <a:latin typeface="Helvetica" pitchFamily="2" charset="0"/>
              </a:rPr>
              <a:t> </a:t>
            </a:r>
            <a:r>
              <a:rPr lang="tr-TR" sz="1800" b="0" dirty="0" err="1">
                <a:solidFill>
                  <a:srgbClr val="022756"/>
                </a:solidFill>
                <a:latin typeface="Helvetica" pitchFamily="2" charset="0"/>
              </a:rPr>
              <a:t>Classifier</a:t>
            </a:r>
            <a:r>
              <a:rPr lang="tr-TR" sz="1800" b="0" dirty="0">
                <a:solidFill>
                  <a:srgbClr val="022756"/>
                </a:solidFill>
                <a:latin typeface="Helvetica" pitchFamily="2" charset="0"/>
              </a:rPr>
              <a:t>: </a:t>
            </a:r>
            <a:r>
              <a:rPr lang="en-US" sz="1800" b="0" dirty="0">
                <a:solidFill>
                  <a:srgbClr val="022756"/>
                </a:solidFill>
                <a:latin typeface="Helvetica" pitchFamily="2" charset="0"/>
              </a:rPr>
              <a:t>Best </a:t>
            </a:r>
            <a:r>
              <a:rPr lang="en-US" sz="1800" b="0" dirty="0" err="1">
                <a:solidFill>
                  <a:srgbClr val="022756"/>
                </a:solidFill>
                <a:latin typeface="Helvetica" pitchFamily="2" charset="0"/>
              </a:rPr>
              <a:t>val</a:t>
            </a:r>
            <a:r>
              <a:rPr lang="en-US" sz="1800" b="0" dirty="0">
                <a:solidFill>
                  <a:srgbClr val="022756"/>
                </a:solidFill>
                <a:latin typeface="Helvetica" pitchFamily="2" charset="0"/>
              </a:rPr>
              <a:t> acc: 0.83</a:t>
            </a:r>
            <a:r>
              <a:rPr lang="tr-TR" sz="1800" b="0" dirty="0">
                <a:solidFill>
                  <a:srgbClr val="022756"/>
                </a:solidFill>
                <a:latin typeface="Helvetica" pitchFamily="2" charset="0"/>
              </a:rPr>
              <a:t>						</a:t>
            </a:r>
            <a:r>
              <a:rPr lang="tr-TR" dirty="0">
                <a:solidFill>
                  <a:srgbClr val="022756"/>
                </a:solidFill>
                <a:latin typeface="Helvetica" pitchFamily="2" charset="0"/>
              </a:rPr>
              <a:t>Model </a:t>
            </a:r>
            <a:r>
              <a:rPr lang="tr-TR" dirty="0" err="1">
                <a:solidFill>
                  <a:srgbClr val="022756"/>
                </a:solidFill>
                <a:latin typeface="Helvetica" pitchFamily="2" charset="0"/>
              </a:rPr>
              <a:t>Classifier</a:t>
            </a:r>
            <a:r>
              <a:rPr lang="tr-TR" dirty="0">
                <a:solidFill>
                  <a:srgbClr val="022756"/>
                </a:solidFill>
                <a:latin typeface="Helvetica" pitchFamily="2" charset="0"/>
              </a:rPr>
              <a:t>: </a:t>
            </a:r>
            <a:r>
              <a:rPr lang="en-US" dirty="0">
                <a:solidFill>
                  <a:srgbClr val="022756"/>
                </a:solidFill>
                <a:latin typeface="Helvetica" pitchFamily="2" charset="0"/>
              </a:rPr>
              <a:t>Best </a:t>
            </a:r>
            <a:r>
              <a:rPr lang="en-US" dirty="0" err="1">
                <a:solidFill>
                  <a:srgbClr val="022756"/>
                </a:solidFill>
                <a:latin typeface="Helvetica" pitchFamily="2" charset="0"/>
              </a:rPr>
              <a:t>val</a:t>
            </a:r>
            <a:r>
              <a:rPr lang="en-US" dirty="0">
                <a:solidFill>
                  <a:srgbClr val="022756"/>
                </a:solidFill>
                <a:latin typeface="Helvetica" pitchFamily="2" charset="0"/>
              </a:rPr>
              <a:t> acc: 0.</a:t>
            </a:r>
            <a:r>
              <a:rPr lang="tr-TR" dirty="0">
                <a:solidFill>
                  <a:srgbClr val="022756"/>
                </a:solidFill>
                <a:latin typeface="Helvetica" pitchFamily="2" charset="0"/>
              </a:rPr>
              <a:t>97</a:t>
            </a:r>
            <a:endParaRPr lang="en-US" sz="1800" b="0" dirty="0">
              <a:solidFill>
                <a:srgbClr val="022756"/>
              </a:solidFill>
              <a:latin typeface="Helvetica" pitchFamily="2" charset="0"/>
            </a:endParaRPr>
          </a:p>
        </p:txBody>
      </p:sp>
      <p:pic>
        <p:nvPicPr>
          <p:cNvPr id="6" name="Resim 5" descr="metin, diyagram, öykü gelişim çizgisi; kumpas; grafiğini çıkarma, çizgi içeren bir resim&#10;&#10;Yapay zeka tarafından oluşturulmuş içerik yanlış olabilir.">
            <a:extLst>
              <a:ext uri="{FF2B5EF4-FFF2-40B4-BE49-F238E27FC236}">
                <a16:creationId xmlns:a16="http://schemas.microsoft.com/office/drawing/2014/main" id="{CA7FBFAF-33BE-CFD5-710A-7C02D2CE9643}"/>
              </a:ext>
            </a:extLst>
          </p:cNvPr>
          <p:cNvPicPr>
            <a:picLocks noChangeAspect="1"/>
          </p:cNvPicPr>
          <p:nvPr/>
        </p:nvPicPr>
        <p:blipFill>
          <a:blip r:embed="rId2"/>
          <a:stretch>
            <a:fillRect/>
          </a:stretch>
        </p:blipFill>
        <p:spPr>
          <a:xfrm>
            <a:off x="178075" y="1416851"/>
            <a:ext cx="4783669" cy="2630493"/>
          </a:xfrm>
          <a:prstGeom prst="rect">
            <a:avLst/>
          </a:prstGeom>
        </p:spPr>
      </p:pic>
      <p:pic>
        <p:nvPicPr>
          <p:cNvPr id="8" name="Resim 7" descr="ekran görüntüsü, metin, renklilik, kare içeren bir resim&#10;&#10;Yapay zeka tarafından oluşturulmuş içerik yanlış olabilir.">
            <a:extLst>
              <a:ext uri="{FF2B5EF4-FFF2-40B4-BE49-F238E27FC236}">
                <a16:creationId xmlns:a16="http://schemas.microsoft.com/office/drawing/2014/main" id="{DD683DBF-7777-3664-49F2-F9C0AF17C5FE}"/>
              </a:ext>
            </a:extLst>
          </p:cNvPr>
          <p:cNvPicPr>
            <a:picLocks noChangeAspect="1"/>
          </p:cNvPicPr>
          <p:nvPr/>
        </p:nvPicPr>
        <p:blipFill>
          <a:blip r:embed="rId3"/>
          <a:stretch>
            <a:fillRect/>
          </a:stretch>
        </p:blipFill>
        <p:spPr>
          <a:xfrm>
            <a:off x="0" y="4047344"/>
            <a:ext cx="4961744" cy="2753964"/>
          </a:xfrm>
          <a:prstGeom prst="rect">
            <a:avLst/>
          </a:prstGeom>
        </p:spPr>
      </p:pic>
      <p:sp>
        <p:nvSpPr>
          <p:cNvPr id="11" name="Metin kutusu 10">
            <a:extLst>
              <a:ext uri="{FF2B5EF4-FFF2-40B4-BE49-F238E27FC236}">
                <a16:creationId xmlns:a16="http://schemas.microsoft.com/office/drawing/2014/main" id="{910C97B7-511F-6CB4-7D8D-97001FDD2160}"/>
              </a:ext>
            </a:extLst>
          </p:cNvPr>
          <p:cNvSpPr txBox="1"/>
          <p:nvPr/>
        </p:nvSpPr>
        <p:spPr>
          <a:xfrm>
            <a:off x="1753582" y="572415"/>
            <a:ext cx="8205216" cy="369332"/>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tr-TR" sz="1800" b="1" dirty="0" err="1">
                <a:solidFill>
                  <a:srgbClr val="022756"/>
                </a:solidFill>
                <a:latin typeface="Helvetica" pitchFamily="2" charset="0"/>
              </a:rPr>
              <a:t>Custom</a:t>
            </a:r>
            <a:r>
              <a:rPr lang="tr-TR" sz="1800" b="1" dirty="0">
                <a:solidFill>
                  <a:srgbClr val="022756"/>
                </a:solidFill>
                <a:latin typeface="Helvetica" pitchFamily="2" charset="0"/>
              </a:rPr>
              <a:t> </a:t>
            </a:r>
            <a:r>
              <a:rPr lang="tr-TR" sz="1800" b="1" dirty="0" err="1">
                <a:solidFill>
                  <a:srgbClr val="022756"/>
                </a:solidFill>
                <a:latin typeface="Helvetica" pitchFamily="2" charset="0"/>
              </a:rPr>
              <a:t>Resnet</a:t>
            </a:r>
            <a:r>
              <a:rPr lang="tr-TR" sz="1800" b="1" dirty="0">
                <a:solidFill>
                  <a:srgbClr val="022756"/>
                </a:solidFill>
                <a:latin typeface="Helvetica" pitchFamily="2" charset="0"/>
              </a:rPr>
              <a:t> </a:t>
            </a:r>
            <a:r>
              <a:rPr lang="tr-TR" sz="1800" b="1" dirty="0" err="1">
                <a:solidFill>
                  <a:srgbClr val="022756"/>
                </a:solidFill>
                <a:latin typeface="Helvetica" pitchFamily="2" charset="0"/>
              </a:rPr>
              <a:t>Results</a:t>
            </a:r>
            <a:endParaRPr lang="en-US" sz="1800" b="1" dirty="0">
              <a:solidFill>
                <a:srgbClr val="022756"/>
              </a:solidFill>
              <a:latin typeface="Helvetica" pitchFamily="2" charset="0"/>
            </a:endParaRPr>
          </a:p>
        </p:txBody>
      </p:sp>
      <p:pic>
        <p:nvPicPr>
          <p:cNvPr id="13" name="Resim 12">
            <a:extLst>
              <a:ext uri="{FF2B5EF4-FFF2-40B4-BE49-F238E27FC236}">
                <a16:creationId xmlns:a16="http://schemas.microsoft.com/office/drawing/2014/main" id="{D5BDA336-B647-C481-18F0-7A67B6165164}"/>
              </a:ext>
            </a:extLst>
          </p:cNvPr>
          <p:cNvPicPr>
            <a:picLocks noChangeAspect="1"/>
          </p:cNvPicPr>
          <p:nvPr/>
        </p:nvPicPr>
        <p:blipFill>
          <a:blip r:embed="rId4"/>
          <a:stretch>
            <a:fillRect/>
          </a:stretch>
        </p:blipFill>
        <p:spPr>
          <a:xfrm>
            <a:off x="7162974" y="1437401"/>
            <a:ext cx="4850952" cy="2589391"/>
          </a:xfrm>
          <a:prstGeom prst="rect">
            <a:avLst/>
          </a:prstGeom>
        </p:spPr>
      </p:pic>
      <p:pic>
        <p:nvPicPr>
          <p:cNvPr id="1034" name="Picture 10">
            <a:extLst>
              <a:ext uri="{FF2B5EF4-FFF2-40B4-BE49-F238E27FC236}">
                <a16:creationId xmlns:a16="http://schemas.microsoft.com/office/drawing/2014/main" id="{E454C81D-02DD-C862-7FF3-F850C3762C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974" y="4185497"/>
            <a:ext cx="4961744" cy="2589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36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EEF8B-0E99-CFEC-C0B9-71D6784DB3B7}"/>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38C9F1C5-6945-EE57-EF7A-7FCA0DCD3002}"/>
              </a:ext>
            </a:extLst>
          </p:cNvPr>
          <p:cNvSpPr txBox="1"/>
          <p:nvPr/>
        </p:nvSpPr>
        <p:spPr>
          <a:xfrm>
            <a:off x="7867521" y="462744"/>
            <a:ext cx="4182555" cy="954107"/>
          </a:xfrm>
          <a:prstGeom prst="rect">
            <a:avLst/>
          </a:prstGeom>
          <a:noFill/>
        </p:spPr>
        <p:txBody>
          <a:bodyPr wrap="none" rtlCol="0">
            <a:spAutoFit/>
          </a:bodyPr>
          <a:lstStyle/>
          <a:p>
            <a:r>
              <a:rPr lang="tr-TR" sz="2800" dirty="0" err="1">
                <a:solidFill>
                  <a:schemeClr val="bg1"/>
                </a:solidFill>
                <a:latin typeface="Helvetica" pitchFamily="2" charset="0"/>
              </a:rPr>
              <a:t>Results</a:t>
            </a:r>
            <a:r>
              <a:rPr lang="tr-TR" sz="2800" dirty="0">
                <a:solidFill>
                  <a:schemeClr val="bg1"/>
                </a:solidFill>
                <a:latin typeface="Helvetica" pitchFamily="2" charset="0"/>
              </a:rPr>
              <a:t> </a:t>
            </a:r>
            <a:r>
              <a:rPr lang="tr-TR" sz="2800" dirty="0" err="1">
                <a:solidFill>
                  <a:schemeClr val="bg1"/>
                </a:solidFill>
                <a:latin typeface="Helvetica" pitchFamily="2" charset="0"/>
              </a:rPr>
              <a:t>and</a:t>
            </a:r>
            <a:r>
              <a:rPr lang="tr-TR" sz="2800" dirty="0">
                <a:solidFill>
                  <a:schemeClr val="bg1"/>
                </a:solidFill>
                <a:latin typeface="Helvetica" pitchFamily="2" charset="0"/>
              </a:rPr>
              <a:t> </a:t>
            </a:r>
            <a:r>
              <a:rPr lang="tr-TR" sz="2800" dirty="0" err="1">
                <a:solidFill>
                  <a:schemeClr val="bg1"/>
                </a:solidFill>
                <a:latin typeface="Helvetica" pitchFamily="2" charset="0"/>
              </a:rPr>
              <a:t>Experiments</a:t>
            </a:r>
            <a:endParaRPr lang="tr-TR" sz="2800" dirty="0">
              <a:solidFill>
                <a:schemeClr val="bg1"/>
              </a:solidFill>
              <a:latin typeface="Helvetica" pitchFamily="2" charset="0"/>
            </a:endParaRPr>
          </a:p>
          <a:p>
            <a:endParaRPr lang="tr-TR" sz="2800" dirty="0">
              <a:solidFill>
                <a:schemeClr val="bg1"/>
              </a:solidFill>
              <a:latin typeface="Helvetica" pitchFamily="2" charset="0"/>
            </a:endParaRPr>
          </a:p>
        </p:txBody>
      </p:sp>
      <p:sp>
        <p:nvSpPr>
          <p:cNvPr id="3" name="Metin kutusu 2">
            <a:extLst>
              <a:ext uri="{FF2B5EF4-FFF2-40B4-BE49-F238E27FC236}">
                <a16:creationId xmlns:a16="http://schemas.microsoft.com/office/drawing/2014/main" id="{5613F1D3-B7A6-6EA4-D030-E80A85FF5766}"/>
              </a:ext>
            </a:extLst>
          </p:cNvPr>
          <p:cNvSpPr txBox="1"/>
          <p:nvPr/>
        </p:nvSpPr>
        <p:spPr>
          <a:xfrm>
            <a:off x="4806439" y="6313223"/>
            <a:ext cx="2579123" cy="461665"/>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p:txBody>
      </p:sp>
      <p:sp>
        <p:nvSpPr>
          <p:cNvPr id="4" name="Metin kutusu 3">
            <a:extLst>
              <a:ext uri="{FF2B5EF4-FFF2-40B4-BE49-F238E27FC236}">
                <a16:creationId xmlns:a16="http://schemas.microsoft.com/office/drawing/2014/main" id="{8CE9968D-35AF-FCC8-9D54-D5DAD7352A17}"/>
              </a:ext>
            </a:extLst>
          </p:cNvPr>
          <p:cNvSpPr txBox="1"/>
          <p:nvPr/>
        </p:nvSpPr>
        <p:spPr>
          <a:xfrm>
            <a:off x="684419" y="1515915"/>
            <a:ext cx="10528224" cy="923330"/>
          </a:xfrm>
          <a:prstGeom prst="rect">
            <a:avLst/>
          </a:prstGeom>
          <a:noFill/>
        </p:spPr>
        <p:txBody>
          <a:bodyPr wrap="square" rtlCol="0">
            <a:spAutoFit/>
          </a:bodyPr>
          <a:lstStyle/>
          <a:p>
            <a:pPr>
              <a:defRPr/>
            </a:pPr>
            <a:r>
              <a:rPr lang="tr-TR" sz="1800" b="0" dirty="0" err="1">
                <a:solidFill>
                  <a:srgbClr val="022756"/>
                </a:solidFill>
                <a:latin typeface="Helvetica" pitchFamily="2" charset="0"/>
              </a:rPr>
              <a:t>Brand</a:t>
            </a:r>
            <a:r>
              <a:rPr lang="tr-TR" sz="1800" b="0" dirty="0">
                <a:solidFill>
                  <a:srgbClr val="022756"/>
                </a:solidFill>
                <a:latin typeface="Helvetica" pitchFamily="2" charset="0"/>
              </a:rPr>
              <a:t> </a:t>
            </a:r>
            <a:r>
              <a:rPr lang="tr-TR" sz="1800" b="0" dirty="0" err="1">
                <a:solidFill>
                  <a:srgbClr val="022756"/>
                </a:solidFill>
                <a:latin typeface="Helvetica" pitchFamily="2" charset="0"/>
              </a:rPr>
              <a:t>Classifier</a:t>
            </a:r>
            <a:r>
              <a:rPr lang="tr-TR" sz="1800" b="0" dirty="0">
                <a:solidFill>
                  <a:srgbClr val="022756"/>
                </a:solidFill>
                <a:latin typeface="Helvetica" pitchFamily="2" charset="0"/>
              </a:rPr>
              <a:t>: </a:t>
            </a:r>
            <a:r>
              <a:rPr lang="en-US" sz="1800" b="0" dirty="0">
                <a:solidFill>
                  <a:srgbClr val="022756"/>
                </a:solidFill>
                <a:latin typeface="Helvetica" pitchFamily="2" charset="0"/>
              </a:rPr>
              <a:t>Best </a:t>
            </a:r>
            <a:r>
              <a:rPr lang="en-US" sz="1800" b="0" dirty="0" err="1">
                <a:solidFill>
                  <a:srgbClr val="022756"/>
                </a:solidFill>
                <a:latin typeface="Helvetica" pitchFamily="2" charset="0"/>
              </a:rPr>
              <a:t>val</a:t>
            </a:r>
            <a:r>
              <a:rPr lang="en-US" sz="1800" b="0" dirty="0">
                <a:solidFill>
                  <a:srgbClr val="022756"/>
                </a:solidFill>
                <a:latin typeface="Helvetica" pitchFamily="2" charset="0"/>
              </a:rPr>
              <a:t> acc: 0.</a:t>
            </a:r>
            <a:r>
              <a:rPr lang="tr-TR" dirty="0">
                <a:solidFill>
                  <a:srgbClr val="022756"/>
                </a:solidFill>
                <a:latin typeface="Helvetica" pitchFamily="2" charset="0"/>
              </a:rPr>
              <a:t>76							</a:t>
            </a:r>
            <a:r>
              <a:rPr lang="tr-TR" dirty="0" err="1">
                <a:solidFill>
                  <a:srgbClr val="022756"/>
                </a:solidFill>
                <a:latin typeface="Helvetica" pitchFamily="2" charset="0"/>
              </a:rPr>
              <a:t>Brand</a:t>
            </a:r>
            <a:r>
              <a:rPr lang="tr-TR" dirty="0">
                <a:solidFill>
                  <a:srgbClr val="022756"/>
                </a:solidFill>
                <a:latin typeface="Helvetica" pitchFamily="2" charset="0"/>
              </a:rPr>
              <a:t> </a:t>
            </a:r>
            <a:r>
              <a:rPr lang="tr-TR" dirty="0" err="1">
                <a:solidFill>
                  <a:srgbClr val="022756"/>
                </a:solidFill>
                <a:latin typeface="Helvetica" pitchFamily="2" charset="0"/>
              </a:rPr>
              <a:t>Classifier</a:t>
            </a:r>
            <a:r>
              <a:rPr lang="tr-TR" dirty="0">
                <a:solidFill>
                  <a:srgbClr val="022756"/>
                </a:solidFill>
                <a:latin typeface="Helvetica" pitchFamily="2" charset="0"/>
              </a:rPr>
              <a:t>: </a:t>
            </a:r>
            <a:r>
              <a:rPr lang="en-US" dirty="0">
                <a:solidFill>
                  <a:srgbClr val="022756"/>
                </a:solidFill>
                <a:latin typeface="Helvetica" pitchFamily="2" charset="0"/>
              </a:rPr>
              <a:t>Best </a:t>
            </a:r>
            <a:r>
              <a:rPr lang="en-US" dirty="0" err="1">
                <a:solidFill>
                  <a:srgbClr val="022756"/>
                </a:solidFill>
                <a:latin typeface="Helvetica" pitchFamily="2" charset="0"/>
              </a:rPr>
              <a:t>val</a:t>
            </a:r>
            <a:r>
              <a:rPr lang="en-US" dirty="0">
                <a:solidFill>
                  <a:srgbClr val="022756"/>
                </a:solidFill>
                <a:latin typeface="Helvetica" pitchFamily="2" charset="0"/>
              </a:rPr>
              <a:t> acc: 0.</a:t>
            </a:r>
            <a:r>
              <a:rPr lang="tr-TR" dirty="0">
                <a:solidFill>
                  <a:srgbClr val="022756"/>
                </a:solidFill>
                <a:latin typeface="Helvetica" pitchFamily="2" charset="0"/>
              </a:rPr>
              <a:t>59					</a:t>
            </a:r>
            <a:endParaRPr lang="en-US" dirty="0">
              <a:solidFill>
                <a:srgbClr val="022756"/>
              </a:solidFill>
              <a:latin typeface="Helvetica" pitchFamily="2" charset="0"/>
            </a:endParaRPr>
          </a:p>
          <a:p>
            <a:pPr lvl="0">
              <a:defRPr/>
            </a:pPr>
            <a:r>
              <a:rPr lang="tr-TR" sz="1800" b="0" dirty="0">
                <a:solidFill>
                  <a:srgbClr val="022756"/>
                </a:solidFill>
                <a:latin typeface="Helvetica" pitchFamily="2" charset="0"/>
              </a:rPr>
              <a:t>					</a:t>
            </a:r>
            <a:endParaRPr lang="en-US" sz="1800" b="0" dirty="0">
              <a:solidFill>
                <a:srgbClr val="022756"/>
              </a:solidFill>
              <a:latin typeface="Helvetica" pitchFamily="2" charset="0"/>
            </a:endParaRPr>
          </a:p>
        </p:txBody>
      </p:sp>
      <p:sp>
        <p:nvSpPr>
          <p:cNvPr id="11" name="Metin kutusu 10">
            <a:extLst>
              <a:ext uri="{FF2B5EF4-FFF2-40B4-BE49-F238E27FC236}">
                <a16:creationId xmlns:a16="http://schemas.microsoft.com/office/drawing/2014/main" id="{33297AE2-EE9D-805C-598B-7B233520D725}"/>
              </a:ext>
            </a:extLst>
          </p:cNvPr>
          <p:cNvSpPr txBox="1"/>
          <p:nvPr/>
        </p:nvSpPr>
        <p:spPr>
          <a:xfrm>
            <a:off x="684418" y="1126872"/>
            <a:ext cx="11365657" cy="646331"/>
          </a:xfrm>
          <a:prstGeom prst="rect">
            <a:avLst/>
          </a:prstGeom>
          <a:noFill/>
        </p:spPr>
        <p:txBody>
          <a:bodyPr wrap="square" rtlCol="0">
            <a:spAutoFit/>
          </a:bodyPr>
          <a:lstStyle/>
          <a:p>
            <a:pPr>
              <a:defRPr/>
            </a:pPr>
            <a:r>
              <a:rPr lang="tr-TR" sz="1800" b="1" dirty="0" err="1">
                <a:solidFill>
                  <a:srgbClr val="022756"/>
                </a:solidFill>
                <a:latin typeface="Helvetica" pitchFamily="2" charset="0"/>
              </a:rPr>
              <a:t>Custom</a:t>
            </a:r>
            <a:r>
              <a:rPr lang="tr-TR" sz="1800" b="1" dirty="0">
                <a:solidFill>
                  <a:srgbClr val="022756"/>
                </a:solidFill>
                <a:latin typeface="Helvetica" pitchFamily="2" charset="0"/>
              </a:rPr>
              <a:t> </a:t>
            </a:r>
            <a:r>
              <a:rPr lang="tr-TR" sz="1800" b="1" dirty="0" err="1">
                <a:solidFill>
                  <a:srgbClr val="022756"/>
                </a:solidFill>
                <a:latin typeface="Helvetica" pitchFamily="2" charset="0"/>
              </a:rPr>
              <a:t>Resnet</a:t>
            </a:r>
            <a:r>
              <a:rPr lang="tr-TR" sz="1800" b="1" dirty="0">
                <a:solidFill>
                  <a:srgbClr val="022756"/>
                </a:solidFill>
                <a:latin typeface="Helvetica" pitchFamily="2" charset="0"/>
              </a:rPr>
              <a:t> </a:t>
            </a:r>
            <a:r>
              <a:rPr lang="tr-TR" sz="1800" b="1" dirty="0" err="1">
                <a:solidFill>
                  <a:srgbClr val="022756"/>
                </a:solidFill>
                <a:latin typeface="Helvetica" pitchFamily="2" charset="0"/>
              </a:rPr>
              <a:t>with</a:t>
            </a:r>
            <a:r>
              <a:rPr lang="tr-TR" sz="1800" b="1" dirty="0">
                <a:solidFill>
                  <a:srgbClr val="022756"/>
                </a:solidFill>
                <a:latin typeface="Helvetica" pitchFamily="2" charset="0"/>
              </a:rPr>
              <a:t> </a:t>
            </a:r>
            <a:r>
              <a:rPr lang="tr-TR" b="1" dirty="0" err="1">
                <a:solidFill>
                  <a:srgbClr val="022756"/>
                </a:solidFill>
                <a:latin typeface="Helvetica" pitchFamily="2" charset="0"/>
              </a:rPr>
              <a:t>Less</a:t>
            </a:r>
            <a:r>
              <a:rPr lang="tr-TR" b="1" dirty="0">
                <a:solidFill>
                  <a:srgbClr val="022756"/>
                </a:solidFill>
                <a:latin typeface="Helvetica" pitchFamily="2" charset="0"/>
              </a:rPr>
              <a:t> </a:t>
            </a:r>
            <a:r>
              <a:rPr lang="tr-TR" b="1" dirty="0" err="1">
                <a:solidFill>
                  <a:srgbClr val="022756"/>
                </a:solidFill>
                <a:latin typeface="Helvetica" pitchFamily="2" charset="0"/>
              </a:rPr>
              <a:t>Layers</a:t>
            </a:r>
            <a:r>
              <a:rPr lang="tr-TR" b="1" dirty="0">
                <a:solidFill>
                  <a:srgbClr val="022756"/>
                </a:solidFill>
                <a:latin typeface="Helvetica" pitchFamily="2" charset="0"/>
              </a:rPr>
              <a:t> </a:t>
            </a:r>
            <a:r>
              <a:rPr lang="tr-TR" sz="1800" b="1" dirty="0" err="1">
                <a:solidFill>
                  <a:srgbClr val="022756"/>
                </a:solidFill>
                <a:latin typeface="Helvetica" pitchFamily="2" charset="0"/>
              </a:rPr>
              <a:t>Results</a:t>
            </a:r>
            <a:r>
              <a:rPr lang="tr-TR" b="1" dirty="0">
                <a:solidFill>
                  <a:srgbClr val="022756"/>
                </a:solidFill>
                <a:latin typeface="Helvetica" pitchFamily="2" charset="0"/>
              </a:rPr>
              <a:t>					</a:t>
            </a:r>
            <a:r>
              <a:rPr lang="tr-TR" b="1" dirty="0" err="1">
                <a:solidFill>
                  <a:srgbClr val="022756"/>
                </a:solidFill>
                <a:latin typeface="Helvetica" pitchFamily="2" charset="0"/>
              </a:rPr>
              <a:t>Custom</a:t>
            </a:r>
            <a:r>
              <a:rPr lang="tr-TR" b="1" dirty="0">
                <a:solidFill>
                  <a:srgbClr val="022756"/>
                </a:solidFill>
                <a:latin typeface="Helvetica" pitchFamily="2" charset="0"/>
              </a:rPr>
              <a:t> </a:t>
            </a:r>
            <a:r>
              <a:rPr lang="tr-TR" b="1" dirty="0" err="1">
                <a:solidFill>
                  <a:srgbClr val="022756"/>
                </a:solidFill>
                <a:latin typeface="Helvetica" pitchFamily="2" charset="0"/>
              </a:rPr>
              <a:t>Resnet</a:t>
            </a:r>
            <a:r>
              <a:rPr lang="tr-TR" b="1" dirty="0">
                <a:solidFill>
                  <a:srgbClr val="022756"/>
                </a:solidFill>
                <a:latin typeface="Helvetica" pitchFamily="2" charset="0"/>
              </a:rPr>
              <a:t> </a:t>
            </a:r>
            <a:r>
              <a:rPr lang="tr-TR" b="1" dirty="0" err="1">
                <a:solidFill>
                  <a:srgbClr val="022756"/>
                </a:solidFill>
                <a:latin typeface="Helvetica" pitchFamily="2" charset="0"/>
              </a:rPr>
              <a:t>Alternate</a:t>
            </a:r>
            <a:r>
              <a:rPr lang="tr-TR" b="1" dirty="0">
                <a:solidFill>
                  <a:srgbClr val="022756"/>
                </a:solidFill>
                <a:latin typeface="Helvetica" pitchFamily="2" charset="0"/>
              </a:rPr>
              <a:t> </a:t>
            </a:r>
            <a:r>
              <a:rPr lang="tr-TR" b="1" dirty="0" err="1">
                <a:solidFill>
                  <a:srgbClr val="022756"/>
                </a:solidFill>
                <a:latin typeface="Helvetica" pitchFamily="2" charset="0"/>
              </a:rPr>
              <a:t>Results</a:t>
            </a:r>
            <a:endParaRPr lang="en-US" b="1" dirty="0">
              <a:solidFill>
                <a:srgbClr val="022756"/>
              </a:solidFill>
              <a:latin typeface="Helvetica" pitchFamily="2" charset="0"/>
            </a:endParaRPr>
          </a:p>
          <a:p>
            <a:pPr marR="0" lvl="0" algn="l" defTabSz="457200" rtl="0" eaLnBrk="1" fontAlgn="auto" latinLnBrk="0" hangingPunct="1">
              <a:lnSpc>
                <a:spcPct val="100000"/>
              </a:lnSpc>
              <a:spcBef>
                <a:spcPts val="0"/>
              </a:spcBef>
              <a:spcAft>
                <a:spcPts val="0"/>
              </a:spcAft>
              <a:buClrTx/>
              <a:buSzTx/>
              <a:tabLst/>
              <a:defRPr/>
            </a:pPr>
            <a:endParaRPr lang="en-US" sz="1800" b="1" dirty="0">
              <a:solidFill>
                <a:srgbClr val="022756"/>
              </a:solidFill>
              <a:latin typeface="Helvetica" pitchFamily="2" charset="0"/>
            </a:endParaRPr>
          </a:p>
        </p:txBody>
      </p:sp>
      <p:pic>
        <p:nvPicPr>
          <p:cNvPr id="2050" name="Picture 2">
            <a:extLst>
              <a:ext uri="{FF2B5EF4-FFF2-40B4-BE49-F238E27FC236}">
                <a16:creationId xmlns:a16="http://schemas.microsoft.com/office/drawing/2014/main" id="{4AFFFA32-9C89-4C22-ECBA-162C2C00D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075" y="2018560"/>
            <a:ext cx="5351812" cy="42946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E8104F3-6BB1-295E-01C0-C0BFAA51C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256" y="2080979"/>
            <a:ext cx="5357743" cy="4232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37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A1CCC1C3-859E-6D78-E9DB-02D44609EAB5}"/>
              </a:ext>
            </a:extLst>
          </p:cNvPr>
          <p:cNvSpPr txBox="1"/>
          <p:nvPr/>
        </p:nvSpPr>
        <p:spPr>
          <a:xfrm>
            <a:off x="4806439" y="6313223"/>
            <a:ext cx="2579123" cy="461665"/>
          </a:xfrm>
          <a:prstGeom prst="rect">
            <a:avLst/>
          </a:prstGeom>
          <a:noFill/>
        </p:spPr>
        <p:txBody>
          <a:bodyPr wrap="square">
            <a:spAutoFit/>
          </a:bodyPr>
          <a:lstStyle/>
          <a:p>
            <a:pPr algn="ctr"/>
            <a:r>
              <a:rPr lang="tr-TR" sz="1200" b="1" dirty="0">
                <a:solidFill>
                  <a:srgbClr val="012855"/>
                </a:solidFill>
                <a:latin typeface="Helvetica" pitchFamily="2" charset="0"/>
              </a:rPr>
              <a:t>Hasan Şenyurt – 504241580</a:t>
            </a:r>
          </a:p>
          <a:p>
            <a:pPr algn="ctr"/>
            <a:r>
              <a:rPr lang="tr-TR" sz="1200" b="1" dirty="0">
                <a:solidFill>
                  <a:srgbClr val="012855"/>
                </a:solidFill>
                <a:latin typeface="Helvetica" pitchFamily="2" charset="0"/>
              </a:rPr>
              <a:t>Barış Akalın – 504241575</a:t>
            </a:r>
          </a:p>
        </p:txBody>
      </p:sp>
      <p:sp>
        <p:nvSpPr>
          <p:cNvPr id="5" name="Metin kutusu 4">
            <a:extLst>
              <a:ext uri="{FF2B5EF4-FFF2-40B4-BE49-F238E27FC236}">
                <a16:creationId xmlns:a16="http://schemas.microsoft.com/office/drawing/2014/main" id="{F8128224-B0E8-4021-A8A1-B2089AD3E352}"/>
              </a:ext>
            </a:extLst>
          </p:cNvPr>
          <p:cNvSpPr txBox="1"/>
          <p:nvPr/>
        </p:nvSpPr>
        <p:spPr>
          <a:xfrm>
            <a:off x="7763826" y="462744"/>
            <a:ext cx="1965603" cy="954107"/>
          </a:xfrm>
          <a:prstGeom prst="rect">
            <a:avLst/>
          </a:prstGeom>
          <a:noFill/>
        </p:spPr>
        <p:txBody>
          <a:bodyPr wrap="none" rtlCol="0">
            <a:spAutoFit/>
          </a:bodyPr>
          <a:lstStyle/>
          <a:p>
            <a:r>
              <a:rPr lang="tr-TR" sz="2800" dirty="0" err="1">
                <a:solidFill>
                  <a:schemeClr val="bg1"/>
                </a:solidFill>
                <a:latin typeface="Helvetica" pitchFamily="2" charset="0"/>
              </a:rPr>
              <a:t>Conclusion</a:t>
            </a:r>
            <a:endParaRPr lang="tr-TR" sz="2800" dirty="0">
              <a:solidFill>
                <a:schemeClr val="bg1"/>
              </a:solidFill>
              <a:latin typeface="Helvetica" pitchFamily="2" charset="0"/>
            </a:endParaRPr>
          </a:p>
          <a:p>
            <a:endParaRPr lang="tr-TR" sz="2800" dirty="0">
              <a:solidFill>
                <a:schemeClr val="bg1"/>
              </a:solidFill>
              <a:latin typeface="Helvetica" pitchFamily="2" charset="0"/>
            </a:endParaRPr>
          </a:p>
        </p:txBody>
      </p:sp>
      <p:sp>
        <p:nvSpPr>
          <p:cNvPr id="4" name="Metin kutusu 3">
            <a:extLst>
              <a:ext uri="{FF2B5EF4-FFF2-40B4-BE49-F238E27FC236}">
                <a16:creationId xmlns:a16="http://schemas.microsoft.com/office/drawing/2014/main" id="{40FB5188-58EA-4EBD-A6B4-05725D4B3335}"/>
              </a:ext>
            </a:extLst>
          </p:cNvPr>
          <p:cNvSpPr txBox="1"/>
          <p:nvPr/>
        </p:nvSpPr>
        <p:spPr>
          <a:xfrm>
            <a:off x="768096" y="2048254"/>
            <a:ext cx="8205216" cy="147732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tr-TR" dirty="0" err="1">
                <a:solidFill>
                  <a:srgbClr val="022756"/>
                </a:solidFill>
                <a:latin typeface="Helvetica" pitchFamily="2" charset="0"/>
              </a:rPr>
              <a:t>Testing</a:t>
            </a:r>
            <a:r>
              <a:rPr lang="tr-TR" dirty="0">
                <a:solidFill>
                  <a:srgbClr val="022756"/>
                </a:solidFill>
                <a:latin typeface="Helvetica" pitchFamily="2" charset="0"/>
              </a:rPr>
              <a:t> </a:t>
            </a:r>
            <a:r>
              <a:rPr lang="tr-TR" dirty="0" err="1">
                <a:solidFill>
                  <a:srgbClr val="022756"/>
                </a:solidFill>
                <a:latin typeface="Helvetica" pitchFamily="2" charset="0"/>
              </a:rPr>
              <a:t>with</a:t>
            </a:r>
            <a:r>
              <a:rPr lang="tr-TR" dirty="0">
                <a:solidFill>
                  <a:srgbClr val="022756"/>
                </a:solidFill>
                <a:latin typeface="Helvetica" pitchFamily="2" charset="0"/>
              </a:rPr>
              <a:t> </a:t>
            </a:r>
            <a:r>
              <a:rPr lang="tr-TR" dirty="0" err="1">
                <a:solidFill>
                  <a:srgbClr val="022756"/>
                </a:solidFill>
                <a:latin typeface="Helvetica" pitchFamily="2" charset="0"/>
              </a:rPr>
              <a:t>one</a:t>
            </a:r>
            <a:r>
              <a:rPr lang="tr-TR" dirty="0">
                <a:solidFill>
                  <a:srgbClr val="022756"/>
                </a:solidFill>
                <a:latin typeface="Helvetica" pitchFamily="2" charset="0"/>
              </a:rPr>
              <a:t> </a:t>
            </a:r>
            <a:r>
              <a:rPr lang="tr-TR" dirty="0" err="1">
                <a:solidFill>
                  <a:srgbClr val="022756"/>
                </a:solidFill>
                <a:latin typeface="Helvetica" pitchFamily="2" charset="0"/>
              </a:rPr>
              <a:t>sample</a:t>
            </a:r>
            <a:r>
              <a:rPr lang="tr-TR" dirty="0">
                <a:solidFill>
                  <a:srgbClr val="022756"/>
                </a:solidFill>
                <a:latin typeface="Helvetica" pitchFamily="2" charset="0"/>
              </a:rPr>
              <a:t> </a:t>
            </a:r>
            <a:r>
              <a:rPr lang="tr-TR" dirty="0" err="1">
                <a:solidFill>
                  <a:srgbClr val="022756"/>
                </a:solidFill>
                <a:latin typeface="Helvetica" pitchFamily="2" charset="0"/>
              </a:rPr>
              <a:t>for</a:t>
            </a:r>
            <a:r>
              <a:rPr lang="tr-TR" dirty="0">
                <a:solidFill>
                  <a:srgbClr val="022756"/>
                </a:solidFill>
                <a:latin typeface="Helvetica" pitchFamily="2" charset="0"/>
              </a:rPr>
              <a:t> </a:t>
            </a:r>
            <a:r>
              <a:rPr lang="tr-TR" dirty="0" err="1">
                <a:solidFill>
                  <a:srgbClr val="022756"/>
                </a:solidFill>
                <a:latin typeface="Helvetica" pitchFamily="2" charset="0"/>
              </a:rPr>
              <a:t>each</a:t>
            </a:r>
            <a:r>
              <a:rPr lang="tr-TR" dirty="0">
                <a:solidFill>
                  <a:srgbClr val="022756"/>
                </a:solidFill>
                <a:latin typeface="Helvetica" pitchFamily="2" charset="0"/>
              </a:rPr>
              <a:t> car model: 7/8 </a:t>
            </a:r>
            <a:r>
              <a:rPr lang="tr-TR" dirty="0" err="1">
                <a:solidFill>
                  <a:srgbClr val="022756"/>
                </a:solidFill>
                <a:latin typeface="Helvetica" pitchFamily="2" charset="0"/>
              </a:rPr>
              <a:t>success</a:t>
            </a:r>
            <a:endParaRPr lang="tr-TR" dirty="0">
              <a:solidFill>
                <a:srgbClr val="022756"/>
              </a:solidFill>
              <a:latin typeface="Helvetica"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Hierarchical brand–model classification effectiveness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Performance gain with deeper network architectures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Depth vs. efficiency trade-off between architectures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22756"/>
                </a:solidFill>
                <a:latin typeface="Helvetica" pitchFamily="2" charset="0"/>
              </a:rPr>
              <a:t>Robust feature learning for fine-grained vehicle recognition</a:t>
            </a:r>
            <a:endParaRPr lang="en-US" sz="1800" b="0" dirty="0">
              <a:solidFill>
                <a:srgbClr val="022756"/>
              </a:solidFill>
              <a:latin typeface="Helvetica" pitchFamily="2" charset="0"/>
            </a:endParaRPr>
          </a:p>
        </p:txBody>
      </p:sp>
    </p:spTree>
    <p:extLst>
      <p:ext uri="{BB962C8B-B14F-4D97-AF65-F5344CB8AC3E}">
        <p14:creationId xmlns:p14="http://schemas.microsoft.com/office/powerpoint/2010/main" val="1429959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3EF0E96-9262-B578-FD5E-849D180DD9E7}"/>
              </a:ext>
            </a:extLst>
          </p:cNvPr>
          <p:cNvSpPr txBox="1"/>
          <p:nvPr/>
        </p:nvSpPr>
        <p:spPr>
          <a:xfrm>
            <a:off x="1176182" y="2171044"/>
            <a:ext cx="9747881" cy="2800767"/>
          </a:xfrm>
          <a:prstGeom prst="rect">
            <a:avLst/>
          </a:prstGeom>
          <a:noFill/>
        </p:spPr>
        <p:txBody>
          <a:bodyPr wrap="square" rtlCol="0" anchor="ctr">
            <a:spAutoFit/>
          </a:bodyPr>
          <a:lstStyle/>
          <a:p>
            <a:pPr algn="ctr"/>
            <a:r>
              <a:rPr lang="en-US" sz="4400" b="1" dirty="0">
                <a:solidFill>
                  <a:srgbClr val="012855"/>
                </a:solidFill>
                <a:latin typeface="Helvetica" pitchFamily="2" charset="0"/>
              </a:rPr>
              <a:t>BLG561 Deep Learning</a:t>
            </a:r>
            <a:r>
              <a:rPr lang="tr-TR" sz="4400" b="1" dirty="0">
                <a:solidFill>
                  <a:srgbClr val="012855"/>
                </a:solidFill>
                <a:latin typeface="Helvetica" pitchFamily="2" charset="0"/>
              </a:rPr>
              <a:t> </a:t>
            </a:r>
            <a:r>
              <a:rPr lang="tr-TR" sz="4400" b="1" dirty="0" err="1">
                <a:solidFill>
                  <a:srgbClr val="012855"/>
                </a:solidFill>
                <a:latin typeface="Helvetica" pitchFamily="2" charset="0"/>
              </a:rPr>
              <a:t>Term</a:t>
            </a:r>
            <a:r>
              <a:rPr lang="tr-TR" sz="4400" b="1" dirty="0">
                <a:solidFill>
                  <a:srgbClr val="012855"/>
                </a:solidFill>
                <a:latin typeface="Helvetica" pitchFamily="2" charset="0"/>
              </a:rPr>
              <a:t> Project - </a:t>
            </a:r>
            <a:r>
              <a:rPr lang="en-US" sz="4400" b="1" dirty="0">
                <a:solidFill>
                  <a:srgbClr val="012855"/>
                </a:solidFill>
                <a:latin typeface="Helvetica" pitchFamily="2" charset="0"/>
              </a:rPr>
              <a:t>Car Brand and Model Detection Using Deep</a:t>
            </a:r>
          </a:p>
          <a:p>
            <a:pPr algn="ctr"/>
            <a:r>
              <a:rPr lang="en-US" sz="4400" b="1" dirty="0">
                <a:solidFill>
                  <a:srgbClr val="012855"/>
                </a:solidFill>
                <a:latin typeface="Helvetica" pitchFamily="2" charset="0"/>
              </a:rPr>
              <a:t>Learning</a:t>
            </a:r>
          </a:p>
        </p:txBody>
      </p:sp>
      <p:sp>
        <p:nvSpPr>
          <p:cNvPr id="3" name="Metin kutusu 2">
            <a:extLst>
              <a:ext uri="{FF2B5EF4-FFF2-40B4-BE49-F238E27FC236}">
                <a16:creationId xmlns:a16="http://schemas.microsoft.com/office/drawing/2014/main" id="{7E6A8A9F-8EE3-0A8E-A6D4-55A941C78445}"/>
              </a:ext>
            </a:extLst>
          </p:cNvPr>
          <p:cNvSpPr txBox="1"/>
          <p:nvPr/>
        </p:nvSpPr>
        <p:spPr>
          <a:xfrm>
            <a:off x="4017016" y="5351019"/>
            <a:ext cx="4157965" cy="400110"/>
          </a:xfrm>
          <a:prstGeom prst="rect">
            <a:avLst/>
          </a:prstGeom>
          <a:noFill/>
        </p:spPr>
        <p:txBody>
          <a:bodyPr wrap="square" rtlCol="0" anchor="ctr">
            <a:spAutoFit/>
          </a:bodyPr>
          <a:lstStyle/>
          <a:p>
            <a:pPr algn="ctr"/>
            <a:r>
              <a:rPr lang="tr-TR" sz="2000" dirty="0">
                <a:solidFill>
                  <a:srgbClr val="012855"/>
                </a:solidFill>
                <a:latin typeface="Helvetica Light" panose="020B0403020202020204" pitchFamily="34" charset="0"/>
              </a:rPr>
              <a:t>30.12.2025</a:t>
            </a:r>
          </a:p>
        </p:txBody>
      </p:sp>
      <p:sp>
        <p:nvSpPr>
          <p:cNvPr id="4" name="Metin kutusu 3">
            <a:extLst>
              <a:ext uri="{FF2B5EF4-FFF2-40B4-BE49-F238E27FC236}">
                <a16:creationId xmlns:a16="http://schemas.microsoft.com/office/drawing/2014/main" id="{76CC2FF8-8855-09C8-DA57-95A1C90806F5}"/>
              </a:ext>
            </a:extLst>
          </p:cNvPr>
          <p:cNvSpPr txBox="1"/>
          <p:nvPr/>
        </p:nvSpPr>
        <p:spPr>
          <a:xfrm>
            <a:off x="4229633" y="6130337"/>
            <a:ext cx="3732733" cy="584775"/>
          </a:xfrm>
          <a:prstGeom prst="rect">
            <a:avLst/>
          </a:prstGeom>
          <a:noFill/>
        </p:spPr>
        <p:txBody>
          <a:bodyPr wrap="square" rtlCol="0" anchor="ctr">
            <a:spAutoFit/>
          </a:bodyPr>
          <a:lstStyle/>
          <a:p>
            <a:pPr algn="ctr"/>
            <a:r>
              <a:rPr lang="tr-TR" sz="1600" b="1" dirty="0">
                <a:solidFill>
                  <a:srgbClr val="012855"/>
                </a:solidFill>
                <a:latin typeface="Helvetica" pitchFamily="2" charset="0"/>
              </a:rPr>
              <a:t>Hasan Şenyurt – 504241580</a:t>
            </a:r>
          </a:p>
          <a:p>
            <a:pPr algn="ctr"/>
            <a:r>
              <a:rPr lang="tr-TR" sz="1600" b="1" dirty="0">
                <a:solidFill>
                  <a:srgbClr val="012855"/>
                </a:solidFill>
                <a:latin typeface="Helvetica" pitchFamily="2" charset="0"/>
              </a:rPr>
              <a:t>Barış Akalın – 504241575</a:t>
            </a:r>
          </a:p>
        </p:txBody>
      </p:sp>
      <p:sp>
        <p:nvSpPr>
          <p:cNvPr id="5" name="Metin kutusu 4">
            <a:extLst>
              <a:ext uri="{FF2B5EF4-FFF2-40B4-BE49-F238E27FC236}">
                <a16:creationId xmlns:a16="http://schemas.microsoft.com/office/drawing/2014/main" id="{05D4FAF5-015E-4913-A69D-E09486A7BD81}"/>
              </a:ext>
            </a:extLst>
          </p:cNvPr>
          <p:cNvSpPr txBox="1"/>
          <p:nvPr/>
        </p:nvSpPr>
        <p:spPr>
          <a:xfrm>
            <a:off x="4177111" y="4971811"/>
            <a:ext cx="3746024" cy="738664"/>
          </a:xfrm>
          <a:prstGeom prst="rect">
            <a:avLst/>
          </a:prstGeom>
          <a:noFill/>
        </p:spPr>
        <p:txBody>
          <a:bodyPr wrap="square" rtlCol="0">
            <a:spAutoFit/>
          </a:bodyPr>
          <a:lstStyle/>
          <a:p>
            <a:r>
              <a:rPr lang="tr-TR" sz="2400" b="1" dirty="0">
                <a:solidFill>
                  <a:srgbClr val="012855"/>
                </a:solidFill>
                <a:latin typeface="Helvetica" pitchFamily="2" charset="0"/>
              </a:rPr>
              <a:t> </a:t>
            </a:r>
            <a:r>
              <a:rPr lang="tr-TR" sz="2400" b="1" dirty="0" err="1">
                <a:solidFill>
                  <a:srgbClr val="012855"/>
                </a:solidFill>
                <a:latin typeface="Helvetica" pitchFamily="2" charset="0"/>
              </a:rPr>
              <a:t>Thank</a:t>
            </a:r>
            <a:r>
              <a:rPr lang="tr-TR" sz="2400" b="1" dirty="0">
                <a:solidFill>
                  <a:srgbClr val="012855"/>
                </a:solidFill>
                <a:latin typeface="Helvetica" pitchFamily="2" charset="0"/>
              </a:rPr>
              <a:t> </a:t>
            </a:r>
            <a:r>
              <a:rPr lang="tr-TR" sz="2400" b="1" dirty="0" err="1">
                <a:solidFill>
                  <a:srgbClr val="012855"/>
                </a:solidFill>
                <a:latin typeface="Helvetica" pitchFamily="2" charset="0"/>
              </a:rPr>
              <a:t>You</a:t>
            </a:r>
            <a:r>
              <a:rPr lang="tr-TR" sz="2400" b="1" dirty="0">
                <a:solidFill>
                  <a:srgbClr val="012855"/>
                </a:solidFill>
                <a:latin typeface="Helvetica" pitchFamily="2" charset="0"/>
              </a:rPr>
              <a:t>, </a:t>
            </a:r>
            <a:r>
              <a:rPr lang="tr-TR" sz="2400" b="1" dirty="0" err="1">
                <a:solidFill>
                  <a:srgbClr val="012855"/>
                </a:solidFill>
                <a:latin typeface="Helvetica" pitchFamily="2" charset="0"/>
              </a:rPr>
              <a:t>Questions</a:t>
            </a:r>
            <a:r>
              <a:rPr lang="tr-TR" sz="2400" b="1" dirty="0">
                <a:solidFill>
                  <a:srgbClr val="012855"/>
                </a:solidFill>
                <a:latin typeface="Helvetica" pitchFamily="2" charset="0"/>
              </a:rPr>
              <a:t>?</a:t>
            </a:r>
          </a:p>
          <a:p>
            <a:endParaRPr lang="tr-TR" dirty="0"/>
          </a:p>
        </p:txBody>
      </p:sp>
    </p:spTree>
    <p:extLst>
      <p:ext uri="{BB962C8B-B14F-4D97-AF65-F5344CB8AC3E}">
        <p14:creationId xmlns:p14="http://schemas.microsoft.com/office/powerpoint/2010/main" val="2772365823"/>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eması">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9db4e91-bad5-4fd0-9ca4-c06485916e3a}" enabled="1" method="Standard" siteId="{f66fae02-5d36-495b-bfe0-78a6ff9f8e6e}"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1729</TotalTime>
  <Words>730</Words>
  <Application>Microsoft Office PowerPoint</Application>
  <PresentationFormat>Geniş ekran</PresentationFormat>
  <Paragraphs>80</Paragraphs>
  <Slides>8</Slides>
  <Notes>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8</vt:i4>
      </vt:variant>
    </vt:vector>
  </HeadingPairs>
  <TitlesOfParts>
    <vt:vector size="13" baseType="lpstr">
      <vt:lpstr>Arial</vt:lpstr>
      <vt:lpstr>Calibri</vt:lpstr>
      <vt:lpstr>Helvetica</vt:lpstr>
      <vt:lpstr>Helvetica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Microsoft Office Kullanıcısı</dc:creator>
  <cp:lastModifiedBy>Joseph</cp:lastModifiedBy>
  <cp:revision>165</cp:revision>
  <dcterms:created xsi:type="dcterms:W3CDTF">2016-12-06T09:19:29Z</dcterms:created>
  <dcterms:modified xsi:type="dcterms:W3CDTF">2025-12-30T07:19:38Z</dcterms:modified>
</cp:coreProperties>
</file>